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6" r:id="rId16"/>
    <p:sldId id="325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C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CFB7F-78DC-4132-887B-DD3530E81786}" v="8" dt="2026-09-28T12:41:59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Gupta" userId="a1be6de9ec726e89" providerId="LiveId" clId="{FBAB047E-8615-4CDA-8065-86AC2F131694}"/>
    <pc:docChg chg="undo custSel modSld">
      <pc:chgData name="Abhinav Gupta" userId="a1be6de9ec726e89" providerId="LiveId" clId="{FBAB047E-8615-4CDA-8065-86AC2F131694}" dt="2026-09-28T12:42:02.933" v="347"/>
      <pc:docMkLst>
        <pc:docMk/>
      </pc:docMkLst>
      <pc:sldChg chg="addSp modSp mod">
        <pc:chgData name="Abhinav Gupta" userId="a1be6de9ec726e89" providerId="LiveId" clId="{FBAB047E-8615-4CDA-8065-86AC2F131694}" dt="2026-09-28T06:52:00.842" v="328" actId="1076"/>
        <pc:sldMkLst>
          <pc:docMk/>
          <pc:sldMk cId="0" sldId="301"/>
        </pc:sldMkLst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2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4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5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6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8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9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10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11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12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0:47.733" v="134" actId="164"/>
          <ac:spMkLst>
            <pc:docMk/>
            <pc:sldMk cId="0" sldId="301"/>
            <ac:spMk id="13" creationId="{00000000-0000-0000-0000-000000000000}"/>
          </ac:spMkLst>
        </pc:spChg>
        <pc:spChg chg="add mod">
          <ac:chgData name="Abhinav Gupta" userId="a1be6de9ec726e89" providerId="LiveId" clId="{FBAB047E-8615-4CDA-8065-86AC2F131694}" dt="2026-09-28T06:47:10.488" v="231" actId="1076"/>
          <ac:spMkLst>
            <pc:docMk/>
            <pc:sldMk cId="0" sldId="301"/>
            <ac:spMk id="17" creationId="{554647B6-5FFF-2E6A-84AB-E5376D7AE382}"/>
          </ac:spMkLst>
        </pc:spChg>
        <pc:spChg chg="add mod">
          <ac:chgData name="Abhinav Gupta" userId="a1be6de9ec726e89" providerId="LiveId" clId="{FBAB047E-8615-4CDA-8065-86AC2F131694}" dt="2026-09-28T06:52:00.842" v="328" actId="1076"/>
          <ac:spMkLst>
            <pc:docMk/>
            <pc:sldMk cId="0" sldId="301"/>
            <ac:spMk id="19" creationId="{A5DD9D88-BA84-BA35-59B4-4E35F6988C54}"/>
          </ac:spMkLst>
        </pc:spChg>
        <pc:grpChg chg="mod">
          <ac:chgData name="Abhinav Gupta" userId="a1be6de9ec726e89" providerId="LiveId" clId="{FBAB047E-8615-4CDA-8065-86AC2F131694}" dt="2026-09-28T05:50:51.307" v="135" actId="14100"/>
          <ac:grpSpMkLst>
            <pc:docMk/>
            <pc:sldMk cId="0" sldId="301"/>
            <ac:grpSpMk id="15" creationId="{342D27E7-30E4-9E83-DFB9-2A04B65706EB}"/>
          </ac:grpSpMkLst>
        </pc:grpChg>
      </pc:sldChg>
      <pc:sldChg chg="modSp mod">
        <pc:chgData name="Abhinav Gupta" userId="a1be6de9ec726e89" providerId="LiveId" clId="{FBAB047E-8615-4CDA-8065-86AC2F131694}" dt="2026-09-28T12:41:46.808" v="344" actId="1036"/>
        <pc:sldMkLst>
          <pc:docMk/>
          <pc:sldMk cId="0" sldId="302"/>
        </pc:sldMkLst>
        <pc:spChg chg="mod">
          <ac:chgData name="Abhinav Gupta" userId="a1be6de9ec726e89" providerId="LiveId" clId="{FBAB047E-8615-4CDA-8065-86AC2F131694}" dt="2026-09-28T06:43:03.018" v="207" actId="20577"/>
          <ac:spMkLst>
            <pc:docMk/>
            <pc:sldMk cId="0" sldId="302"/>
            <ac:spMk id="8" creationId="{00000000-0000-0000-0000-000000000000}"/>
          </ac:spMkLst>
        </pc:spChg>
        <pc:spChg chg="mod">
          <ac:chgData name="Abhinav Gupta" userId="a1be6de9ec726e89" providerId="LiveId" clId="{FBAB047E-8615-4CDA-8065-86AC2F131694}" dt="2026-09-28T12:41:46.808" v="344" actId="1036"/>
          <ac:spMkLst>
            <pc:docMk/>
            <pc:sldMk cId="0" sldId="302"/>
            <ac:spMk id="20" creationId="{00000000-0000-0000-0000-000000000000}"/>
          </ac:spMkLst>
        </pc:spChg>
      </pc:sldChg>
      <pc:sldChg chg="addSp delSp modSp mod">
        <pc:chgData name="Abhinav Gupta" userId="a1be6de9ec726e89" providerId="LiveId" clId="{FBAB047E-8615-4CDA-8065-86AC2F131694}" dt="2026-09-28T12:42:02.933" v="347"/>
        <pc:sldMkLst>
          <pc:docMk/>
          <pc:sldMk cId="0" sldId="303"/>
        </pc:sldMkLst>
        <pc:spChg chg="mod">
          <ac:chgData name="Abhinav Gupta" userId="a1be6de9ec726e89" providerId="LiveId" clId="{FBAB047E-8615-4CDA-8065-86AC2F131694}" dt="2026-09-28T06:43:16.225" v="220" actId="404"/>
          <ac:spMkLst>
            <pc:docMk/>
            <pc:sldMk cId="0" sldId="303"/>
            <ac:spMk id="3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51:37.254" v="157" actId="1035"/>
          <ac:spMkLst>
            <pc:docMk/>
            <pc:sldMk cId="0" sldId="303"/>
            <ac:spMk id="19" creationId="{00000000-0000-0000-0000-000000000000}"/>
          </ac:spMkLst>
        </pc:spChg>
        <pc:spChg chg="del">
          <ac:chgData name="Abhinav Gupta" userId="a1be6de9ec726e89" providerId="LiveId" clId="{FBAB047E-8615-4CDA-8065-86AC2F131694}" dt="2026-09-28T05:51:29.357" v="136" actId="478"/>
          <ac:spMkLst>
            <pc:docMk/>
            <pc:sldMk cId="0" sldId="303"/>
            <ac:spMk id="20" creationId="{00000000-0000-0000-0000-000000000000}"/>
          </ac:spMkLst>
        </pc:spChg>
        <pc:spChg chg="add del mod">
          <ac:chgData name="Abhinav Gupta" userId="a1be6de9ec726e89" providerId="LiveId" clId="{FBAB047E-8615-4CDA-8065-86AC2F131694}" dt="2026-09-28T12:42:02.933" v="347"/>
          <ac:spMkLst>
            <pc:docMk/>
            <pc:sldMk cId="0" sldId="303"/>
            <ac:spMk id="20" creationId="{F8D74C5B-ADE7-19A8-7554-67763F2334C5}"/>
          </ac:spMkLst>
        </pc:spChg>
      </pc:sldChg>
      <pc:sldChg chg="delSp modSp mod">
        <pc:chgData name="Abhinav Gupta" userId="a1be6de9ec726e89" providerId="LiveId" clId="{FBAB047E-8615-4CDA-8065-86AC2F131694}" dt="2026-09-28T07:01:09.640" v="343" actId="14100"/>
        <pc:sldMkLst>
          <pc:docMk/>
          <pc:sldMk cId="0" sldId="305"/>
        </pc:sldMkLst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7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8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9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11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12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13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15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19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20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7:01:03.780" v="341" actId="403"/>
          <ac:spMkLst>
            <pc:docMk/>
            <pc:sldMk cId="0" sldId="305"/>
            <ac:spMk id="21" creationId="{00000000-0000-0000-0000-000000000000}"/>
          </ac:spMkLst>
        </pc:spChg>
        <pc:grpChg chg="mod">
          <ac:chgData name="Abhinav Gupta" userId="a1be6de9ec726e89" providerId="LiveId" clId="{FBAB047E-8615-4CDA-8065-86AC2F131694}" dt="2026-09-28T07:01:09.640" v="343" actId="14100"/>
          <ac:grpSpMkLst>
            <pc:docMk/>
            <pc:sldMk cId="0" sldId="305"/>
            <ac:grpSpMk id="24" creationId="{6B6F5C0E-B347-9DF8-D16F-31AD71F39DBF}"/>
          </ac:grpSpMkLst>
        </pc:grpChg>
        <pc:grpChg chg="del">
          <ac:chgData name="Abhinav Gupta" userId="a1be6de9ec726e89" providerId="LiveId" clId="{FBAB047E-8615-4CDA-8065-86AC2F131694}" dt="2026-09-28T07:00:52.597" v="340" actId="478"/>
          <ac:grpSpMkLst>
            <pc:docMk/>
            <pc:sldMk cId="0" sldId="305"/>
            <ac:grpSpMk id="25" creationId="{5786AE3C-4C9D-76AA-4158-69299A743F49}"/>
          </ac:grpSpMkLst>
        </pc:grpChg>
      </pc:sldChg>
      <pc:sldChg chg="addSp delSp modSp mod">
        <pc:chgData name="Abhinav Gupta" userId="a1be6de9ec726e89" providerId="LiveId" clId="{FBAB047E-8615-4CDA-8065-86AC2F131694}" dt="2026-09-28T06:25:01.685" v="159" actId="478"/>
        <pc:sldMkLst>
          <pc:docMk/>
          <pc:sldMk cId="0" sldId="306"/>
        </pc:sldMkLst>
        <pc:spChg chg="add del mod">
          <ac:chgData name="Abhinav Gupta" userId="a1be6de9ec726e89" providerId="LiveId" clId="{FBAB047E-8615-4CDA-8065-86AC2F131694}" dt="2026-09-28T06:25:01.685" v="159" actId="478"/>
          <ac:spMkLst>
            <pc:docMk/>
            <pc:sldMk cId="0" sldId="306"/>
            <ac:spMk id="29" creationId="{3686A668-5D35-B97B-FECA-CC801D3638E6}"/>
          </ac:spMkLst>
        </pc:spChg>
      </pc:sldChg>
      <pc:sldChg chg="modSp mod">
        <pc:chgData name="Abhinav Gupta" userId="a1be6de9ec726e89" providerId="LiveId" clId="{FBAB047E-8615-4CDA-8065-86AC2F131694}" dt="2026-09-28T06:45:18.628" v="229" actId="20577"/>
        <pc:sldMkLst>
          <pc:docMk/>
          <pc:sldMk cId="0" sldId="308"/>
        </pc:sldMkLst>
        <pc:spChg chg="mod">
          <ac:chgData name="Abhinav Gupta" userId="a1be6de9ec726e89" providerId="LiveId" clId="{FBAB047E-8615-4CDA-8065-86AC2F131694}" dt="2026-09-28T06:45:18.628" v="229" actId="20577"/>
          <ac:spMkLst>
            <pc:docMk/>
            <pc:sldMk cId="0" sldId="308"/>
            <ac:spMk id="11" creationId="{00000000-0000-0000-0000-000000000000}"/>
          </ac:spMkLst>
        </pc:spChg>
      </pc:sldChg>
      <pc:sldChg chg="addSp delSp modSp mod">
        <pc:chgData name="Abhinav Gupta" userId="a1be6de9ec726e89" providerId="LiveId" clId="{FBAB047E-8615-4CDA-8065-86AC2F131694}" dt="2026-09-28T05:49:40.505" v="133" actId="403"/>
        <pc:sldMkLst>
          <pc:docMk/>
          <pc:sldMk cId="0" sldId="314"/>
        </pc:sldMkLst>
        <pc:spChg chg="mod">
          <ac:chgData name="Abhinav Gupta" userId="a1be6de9ec726e89" providerId="LiveId" clId="{FBAB047E-8615-4CDA-8065-86AC2F131694}" dt="2026-09-28T05:49:35.665" v="128" actId="164"/>
          <ac:spMkLst>
            <pc:docMk/>
            <pc:sldMk cId="0" sldId="314"/>
            <ac:spMk id="5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6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7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10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35.665" v="128" actId="164"/>
          <ac:spMkLst>
            <pc:docMk/>
            <pc:sldMk cId="0" sldId="314"/>
            <ac:spMk id="14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15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16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18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19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21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22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49:40.505" v="133" actId="403"/>
          <ac:spMkLst>
            <pc:docMk/>
            <pc:sldMk cId="0" sldId="314"/>
            <ac:spMk id="24" creationId="{00000000-0000-0000-0000-000000000000}"/>
          </ac:spMkLst>
        </pc:spChg>
        <pc:spChg chg="del">
          <ac:chgData name="Abhinav Gupta" userId="a1be6de9ec726e89" providerId="LiveId" clId="{FBAB047E-8615-4CDA-8065-86AC2F131694}" dt="2026-09-28T05:49:26.730" v="127" actId="478"/>
          <ac:spMkLst>
            <pc:docMk/>
            <pc:sldMk cId="0" sldId="314"/>
            <ac:spMk id="26" creationId="{00000000-0000-0000-0000-000000000000}"/>
          </ac:spMkLst>
        </pc:spChg>
        <pc:spChg chg="del">
          <ac:chgData name="Abhinav Gupta" userId="a1be6de9ec726e89" providerId="LiveId" clId="{FBAB047E-8615-4CDA-8065-86AC2F131694}" dt="2026-09-28T05:49:25.673" v="126" actId="478"/>
          <ac:spMkLst>
            <pc:docMk/>
            <pc:sldMk cId="0" sldId="314"/>
            <ac:spMk id="27" creationId="{00000000-0000-0000-0000-000000000000}"/>
          </ac:spMkLst>
        </pc:spChg>
        <pc:grpChg chg="mod">
          <ac:chgData name="Abhinav Gupta" userId="a1be6de9ec726e89" providerId="LiveId" clId="{FBAB047E-8615-4CDA-8065-86AC2F131694}" dt="2026-09-28T05:49:38.257" v="129" actId="14100"/>
          <ac:grpSpMkLst>
            <pc:docMk/>
            <pc:sldMk cId="0" sldId="314"/>
            <ac:grpSpMk id="4" creationId="{E7AD6D56-B6B0-B29D-14DD-0D449419956E}"/>
          </ac:grpSpMkLst>
        </pc:grpChg>
      </pc:sldChg>
      <pc:sldChg chg="addSp delSp modSp mod">
        <pc:chgData name="Abhinav Gupta" userId="a1be6de9ec726e89" providerId="LiveId" clId="{FBAB047E-8615-4CDA-8065-86AC2F131694}" dt="2026-09-28T05:29:35.093" v="125" actId="1036"/>
        <pc:sldMkLst>
          <pc:docMk/>
          <pc:sldMk cId="0" sldId="317"/>
        </pc:sldMkLst>
        <pc:spChg chg="add del mod">
          <ac:chgData name="Abhinav Gupta" userId="a1be6de9ec726e89" providerId="LiveId" clId="{FBAB047E-8615-4CDA-8065-86AC2F131694}" dt="2026-09-28T05:29:13.366" v="98" actId="47"/>
          <ac:spMkLst>
            <pc:docMk/>
            <pc:sldMk cId="0" sldId="317"/>
            <ac:spMk id="4" creationId="{B674121F-12F9-FDFD-A9BE-C9BB610669AD}"/>
          </ac:spMkLst>
        </pc:spChg>
        <pc:spChg chg="mod">
          <ac:chgData name="Abhinav Gupta" userId="a1be6de9ec726e89" providerId="LiveId" clId="{FBAB047E-8615-4CDA-8065-86AC2F131694}" dt="2026-09-28T05:27:06.357" v="4" actId="403"/>
          <ac:spMkLst>
            <pc:docMk/>
            <pc:sldMk cId="0" sldId="317"/>
            <ac:spMk id="7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7:06.357" v="4" actId="403"/>
          <ac:spMkLst>
            <pc:docMk/>
            <pc:sldMk cId="0" sldId="317"/>
            <ac:spMk id="9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7:06.357" v="4" actId="403"/>
          <ac:spMkLst>
            <pc:docMk/>
            <pc:sldMk cId="0" sldId="317"/>
            <ac:spMk id="11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7:06.357" v="4" actId="403"/>
          <ac:spMkLst>
            <pc:docMk/>
            <pc:sldMk cId="0" sldId="317"/>
            <ac:spMk id="15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7:06.357" v="4" actId="403"/>
          <ac:spMkLst>
            <pc:docMk/>
            <pc:sldMk cId="0" sldId="317"/>
            <ac:spMk id="18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7:06.357" v="4" actId="403"/>
          <ac:spMkLst>
            <pc:docMk/>
            <pc:sldMk cId="0" sldId="317"/>
            <ac:spMk id="20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7:06.357" v="4" actId="403"/>
          <ac:spMkLst>
            <pc:docMk/>
            <pc:sldMk cId="0" sldId="317"/>
            <ac:spMk id="22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7:06.357" v="4" actId="403"/>
          <ac:spMkLst>
            <pc:docMk/>
            <pc:sldMk cId="0" sldId="317"/>
            <ac:spMk id="24" creationId="{00000000-0000-0000-0000-000000000000}"/>
          </ac:spMkLst>
        </pc:spChg>
        <pc:spChg chg="del">
          <ac:chgData name="Abhinav Gupta" userId="a1be6de9ec726e89" providerId="LiveId" clId="{FBAB047E-8615-4CDA-8065-86AC2F131694}" dt="2026-09-28T05:26:56.291" v="1" actId="478"/>
          <ac:spMkLst>
            <pc:docMk/>
            <pc:sldMk cId="0" sldId="317"/>
            <ac:spMk id="28" creationId="{00000000-0000-0000-0000-000000000000}"/>
          </ac:spMkLst>
        </pc:spChg>
        <pc:spChg chg="del">
          <ac:chgData name="Abhinav Gupta" userId="a1be6de9ec726e89" providerId="LiveId" clId="{FBAB047E-8615-4CDA-8065-86AC2F131694}" dt="2026-09-28T05:26:53.732" v="0" actId="478"/>
          <ac:spMkLst>
            <pc:docMk/>
            <pc:sldMk cId="0" sldId="317"/>
            <ac:spMk id="29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7:19.694" v="33" actId="1035"/>
          <ac:spMkLst>
            <pc:docMk/>
            <pc:sldMk cId="0" sldId="317"/>
            <ac:spMk id="30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9:14.978" v="99" actId="20577"/>
          <ac:spMkLst>
            <pc:docMk/>
            <pc:sldMk cId="0" sldId="317"/>
            <ac:spMk id="31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9:35.093" v="125" actId="1036"/>
          <ac:spMkLst>
            <pc:docMk/>
            <pc:sldMk cId="0" sldId="317"/>
            <ac:spMk id="32" creationId="{00000000-0000-0000-0000-000000000000}"/>
          </ac:spMkLst>
        </pc:spChg>
        <pc:spChg chg="mod">
          <ac:chgData name="Abhinav Gupta" userId="a1be6de9ec726e89" providerId="LiveId" clId="{FBAB047E-8615-4CDA-8065-86AC2F131694}" dt="2026-09-28T05:29:30.317" v="101" actId="1076"/>
          <ac:spMkLst>
            <pc:docMk/>
            <pc:sldMk cId="0" sldId="317"/>
            <ac:spMk id="33" creationId="{00000000-0000-0000-0000-000000000000}"/>
          </ac:spMkLst>
        </pc:spChg>
        <pc:spChg chg="add del mod">
          <ac:chgData name="Abhinav Gupta" userId="a1be6de9ec726e89" providerId="LiveId" clId="{FBAB047E-8615-4CDA-8065-86AC2F131694}" dt="2026-09-28T05:29:09.719" v="90" actId="767"/>
          <ac:spMkLst>
            <pc:docMk/>
            <pc:sldMk cId="0" sldId="317"/>
            <ac:spMk id="34" creationId="{0123F9FB-2A24-E4B3-8712-CB7DA787F29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97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42D27E7-30E4-9E83-DFB9-2A04B65706EB}"/>
              </a:ext>
            </a:extLst>
          </p:cNvPr>
          <p:cNvGrpSpPr/>
          <p:nvPr/>
        </p:nvGrpSpPr>
        <p:grpSpPr>
          <a:xfrm>
            <a:off x="7027922" y="4137961"/>
            <a:ext cx="4511806" cy="2509727"/>
            <a:chOff x="8302752" y="5029200"/>
            <a:chExt cx="3236976" cy="1618488"/>
          </a:xfrm>
        </p:grpSpPr>
        <p:sp>
          <p:nvSpPr>
            <p:cNvPr id="2" name="Shape 0"/>
            <p:cNvSpPr/>
            <p:nvPr/>
          </p:nvSpPr>
          <p:spPr>
            <a:xfrm flipH="1">
              <a:off x="9052560" y="5257800"/>
              <a:ext cx="914400" cy="731520"/>
            </a:xfrm>
            <a:prstGeom prst="line">
              <a:avLst/>
            </a:prstGeom>
            <a:noFill/>
            <a:ln w="19050">
              <a:solidFill>
                <a:srgbClr val="3E5A85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9966960" y="5257800"/>
              <a:ext cx="914400" cy="731520"/>
            </a:xfrm>
            <a:prstGeom prst="line">
              <a:avLst/>
            </a:prstGeom>
            <a:noFill/>
            <a:ln w="19050">
              <a:solidFill>
                <a:srgbClr val="3E5A85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 flipH="1">
              <a:off x="8412480" y="5989320"/>
              <a:ext cx="640080" cy="548640"/>
            </a:xfrm>
            <a:prstGeom prst="line">
              <a:avLst/>
            </a:prstGeom>
            <a:noFill/>
            <a:ln w="19050">
              <a:solidFill>
                <a:srgbClr val="3E5A85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9052560" y="5989320"/>
              <a:ext cx="548640" cy="548640"/>
            </a:xfrm>
            <a:prstGeom prst="line">
              <a:avLst/>
            </a:prstGeom>
            <a:noFill/>
            <a:ln w="19050">
              <a:solidFill>
                <a:srgbClr val="3E5A85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 flipH="1">
              <a:off x="10332720" y="5989320"/>
              <a:ext cx="548640" cy="548640"/>
            </a:xfrm>
            <a:prstGeom prst="line">
              <a:avLst/>
            </a:prstGeom>
            <a:noFill/>
            <a:ln w="19050">
              <a:solidFill>
                <a:srgbClr val="3E5A85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10881360" y="5989320"/>
              <a:ext cx="548640" cy="548640"/>
            </a:xfrm>
            <a:prstGeom prst="line">
              <a:avLst/>
            </a:prstGeom>
            <a:noFill/>
            <a:ln w="19050">
              <a:solidFill>
                <a:srgbClr val="3E5A85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9738360" y="5029200"/>
              <a:ext cx="457200" cy="457200"/>
            </a:xfrm>
            <a:prstGeom prst="ellipse">
              <a:avLst/>
            </a:prstGeom>
            <a:solidFill>
              <a:srgbClr val="0EC9BD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8887968" y="5824728"/>
              <a:ext cx="329184" cy="329184"/>
            </a:xfrm>
            <a:prstGeom prst="ellipse">
              <a:avLst/>
            </a:prstGeom>
            <a:solidFill>
              <a:srgbClr val="3E5A85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10716768" y="5824728"/>
              <a:ext cx="329184" cy="329184"/>
            </a:xfrm>
            <a:prstGeom prst="ellipse">
              <a:avLst/>
            </a:prstGeom>
            <a:solidFill>
              <a:srgbClr val="3E5A85"/>
            </a:solidFill>
            <a:ln/>
          </p:spPr>
        </p:sp>
        <p:sp>
          <p:nvSpPr>
            <p:cNvPr id="11" name="Shape 9"/>
            <p:cNvSpPr/>
            <p:nvPr/>
          </p:nvSpPr>
          <p:spPr>
            <a:xfrm>
              <a:off x="8302752" y="6428232"/>
              <a:ext cx="219456" cy="219456"/>
            </a:xfrm>
            <a:prstGeom prst="ellipse">
              <a:avLst/>
            </a:prstGeom>
            <a:solidFill>
              <a:srgbClr val="0A9C93"/>
            </a:solidFill>
            <a:ln/>
          </p:spPr>
        </p:sp>
        <p:sp>
          <p:nvSpPr>
            <p:cNvPr id="12" name="Shape 10"/>
            <p:cNvSpPr/>
            <p:nvPr/>
          </p:nvSpPr>
          <p:spPr>
            <a:xfrm>
              <a:off x="9491472" y="6428232"/>
              <a:ext cx="219456" cy="219456"/>
            </a:xfrm>
            <a:prstGeom prst="ellipse">
              <a:avLst/>
            </a:prstGeom>
            <a:solidFill>
              <a:srgbClr val="0A9C93"/>
            </a:solidFill>
            <a:ln/>
          </p:spPr>
        </p:sp>
        <p:sp>
          <p:nvSpPr>
            <p:cNvPr id="13" name="Shape 11"/>
            <p:cNvSpPr/>
            <p:nvPr/>
          </p:nvSpPr>
          <p:spPr>
            <a:xfrm>
              <a:off x="10222992" y="6428232"/>
              <a:ext cx="219456" cy="219456"/>
            </a:xfrm>
            <a:prstGeom prst="ellipse">
              <a:avLst/>
            </a:prstGeom>
            <a:solidFill>
              <a:srgbClr val="0A9C93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11320272" y="6428232"/>
              <a:ext cx="219456" cy="219456"/>
            </a:xfrm>
            <a:prstGeom prst="ellipse">
              <a:avLst/>
            </a:prstGeom>
            <a:solidFill>
              <a:srgbClr val="0A9C93"/>
            </a:solidFill>
            <a:ln/>
          </p:spPr>
        </p:sp>
      </p:grpSp>
      <p:sp>
        <p:nvSpPr>
          <p:cNvPr id="18" name="Shape 16"/>
          <p:cNvSpPr/>
          <p:nvPr/>
        </p:nvSpPr>
        <p:spPr>
          <a:xfrm>
            <a:off x="822960" y="3429000"/>
            <a:ext cx="5120640" cy="914"/>
          </a:xfrm>
          <a:prstGeom prst="line">
            <a:avLst/>
          </a:prstGeom>
          <a:noFill/>
          <a:ln w="12700">
            <a:solidFill>
              <a:srgbClr val="3E5A85"/>
            </a:solidFill>
            <a:prstDash val="solid"/>
          </a:ln>
        </p:spPr>
      </p:sp>
      <p:sp>
        <p:nvSpPr>
          <p:cNvPr id="51" name="Text 51"/>
          <p:cNvSpPr txBox="1"/>
          <p:nvPr/>
        </p:nvSpPr>
        <p:spPr>
          <a:xfrm>
            <a:off x="822960" y="1082040"/>
            <a:ext cx="7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0" spc="300" dirty="0">
                <a:solidFill>
                  <a:srgbClr val="0EC9BD"/>
                </a:solidFill>
                <a:latin typeface="Calibri"/>
                <a:ea typeface="Calibri"/>
                <a:cs typeface="Calibri"/>
              </a:rPr>
              <a:t>DATA STRUCTURES &amp; ALGORITHMS LAB  ·  MINI PROJECT</a:t>
            </a:r>
            <a:endParaRPr lang="en-US" sz="1200" dirty="0"/>
          </a:p>
        </p:txBody>
      </p:sp>
      <p:sp>
        <p:nvSpPr>
          <p:cNvPr id="52" name="Text 52"/>
          <p:cNvSpPr txBox="1"/>
          <p:nvPr/>
        </p:nvSpPr>
        <p:spPr>
          <a:xfrm>
            <a:off x="777240" y="144780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Huffman File Compression</a:t>
            </a:r>
            <a:endParaRPr lang="en-US" sz="5400" dirty="0"/>
          </a:p>
        </p:txBody>
      </p:sp>
      <p:sp>
        <p:nvSpPr>
          <p:cNvPr id="53" name="Text 53"/>
          <p:cNvSpPr txBox="1"/>
          <p:nvPr/>
        </p:nvSpPr>
        <p:spPr>
          <a:xfrm>
            <a:off x="822960" y="2400000"/>
            <a:ext cx="9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i="1" dirty="0">
                <a:solidFill>
                  <a:srgbClr val="D5DFEE"/>
                </a:solidFill>
                <a:latin typeface="Calibri"/>
                <a:ea typeface="Calibri"/>
                <a:cs typeface="Calibri"/>
              </a:rPr>
              <a:t>A lossless data-compression algorithm using Huffman coding and binary trees</a:t>
            </a:r>
            <a:endParaRPr lang="en-US" sz="1400" dirty="0"/>
          </a:p>
        </p:txBody>
      </p:sp>
      <p:sp>
        <p:nvSpPr>
          <p:cNvPr id="54" name="Text 54"/>
          <p:cNvSpPr txBox="1"/>
          <p:nvPr/>
        </p:nvSpPr>
        <p:spPr>
          <a:xfrm>
            <a:off x="822960" y="3620000"/>
            <a:ext cx="5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0EC9BD"/>
                </a:solidFill>
                <a:latin typeface="Calibri"/>
                <a:ea typeface="Calibri"/>
                <a:cs typeface="Calibri"/>
              </a:rPr>
              <a:t>Being Presented by:-</a:t>
            </a:r>
            <a:endParaRPr lang="en-US" sz="1600" dirty="0"/>
          </a:p>
        </p:txBody>
      </p:sp>
      <p:sp>
        <p:nvSpPr>
          <p:cNvPr id="55" name="Text 55"/>
          <p:cNvSpPr txBox="1"/>
          <p:nvPr/>
        </p:nvSpPr>
        <p:spPr>
          <a:xfrm>
            <a:off x="822960" y="3970000"/>
            <a:ext cx="1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E7EEF7"/>
                </a:solidFill>
                <a:latin typeface="Calibri"/>
                <a:ea typeface="Calibri"/>
                <a:cs typeface="Calibri"/>
              </a:rPr>
              <a:t>Abhinav Gupta</a:t>
            </a:r>
            <a:endParaRPr lang="en-US" sz="1600" dirty="0"/>
          </a:p>
        </p:txBody>
      </p:sp>
      <p:sp>
        <p:nvSpPr>
          <p:cNvPr id="56" name="Text 56"/>
          <p:cNvSpPr txBox="1"/>
          <p:nvPr/>
        </p:nvSpPr>
        <p:spPr>
          <a:xfrm>
            <a:off x="2164080" y="3970000"/>
            <a:ext cx="3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E7EEF7"/>
                </a:solidFill>
                <a:latin typeface="Calibri"/>
                <a:ea typeface="Calibri"/>
                <a:cs typeface="Calibri"/>
              </a:rPr>
              <a:t>SAP :- 70022500060</a:t>
            </a:r>
            <a:endParaRPr lang="en-US" sz="1600" dirty="0"/>
          </a:p>
        </p:txBody>
      </p:sp>
      <p:sp>
        <p:nvSpPr>
          <p:cNvPr id="57" name="Text 57"/>
          <p:cNvSpPr txBox="1"/>
          <p:nvPr/>
        </p:nvSpPr>
        <p:spPr>
          <a:xfrm>
            <a:off x="822960" y="4267180"/>
            <a:ext cx="1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E7EEF7"/>
                </a:solidFill>
                <a:latin typeface="Calibri"/>
                <a:ea typeface="Calibri"/>
                <a:cs typeface="Calibri"/>
              </a:rPr>
              <a:t>Anmol Mathur</a:t>
            </a:r>
            <a:endParaRPr lang="en-US" sz="1600" dirty="0"/>
          </a:p>
        </p:txBody>
      </p:sp>
      <p:sp>
        <p:nvSpPr>
          <p:cNvPr id="58" name="Text 58"/>
          <p:cNvSpPr txBox="1"/>
          <p:nvPr/>
        </p:nvSpPr>
        <p:spPr>
          <a:xfrm>
            <a:off x="2164080" y="4267180"/>
            <a:ext cx="3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E7EEF7"/>
                </a:solidFill>
                <a:latin typeface="Calibri"/>
                <a:ea typeface="Calibri"/>
                <a:cs typeface="Calibri"/>
              </a:rPr>
              <a:t>SAP :- 70022500527</a:t>
            </a:r>
            <a:endParaRPr lang="en-US" sz="1600" dirty="0"/>
          </a:p>
        </p:txBody>
      </p:sp>
      <p:sp>
        <p:nvSpPr>
          <p:cNvPr id="59" name="Text 59"/>
          <p:cNvSpPr txBox="1"/>
          <p:nvPr/>
        </p:nvSpPr>
        <p:spPr>
          <a:xfrm>
            <a:off x="822960" y="4564360"/>
            <a:ext cx="13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E7EEF7"/>
                </a:solidFill>
                <a:latin typeface="Calibri"/>
                <a:ea typeface="Calibri"/>
                <a:cs typeface="Calibri"/>
              </a:rPr>
              <a:t>Atharv Sharma</a:t>
            </a:r>
            <a:endParaRPr lang="en-US" sz="1600" dirty="0"/>
          </a:p>
        </p:txBody>
      </p:sp>
      <p:sp>
        <p:nvSpPr>
          <p:cNvPr id="60" name="Text 60"/>
          <p:cNvSpPr txBox="1"/>
          <p:nvPr/>
        </p:nvSpPr>
        <p:spPr>
          <a:xfrm>
            <a:off x="2164080" y="4564360"/>
            <a:ext cx="3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0" i="0" dirty="0">
                <a:solidFill>
                  <a:srgbClr val="E7EEF7"/>
                </a:solidFill>
                <a:latin typeface="Calibri"/>
                <a:ea typeface="Calibri"/>
                <a:cs typeface="Calibri"/>
              </a:rPr>
              <a:t>SAP :- 70022500336</a:t>
            </a:r>
            <a:endParaRPr lang="en-US" sz="16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54647B6-5FFF-2E6A-84AB-E5376D7AE382}"/>
              </a:ext>
            </a:extLst>
          </p:cNvPr>
          <p:cNvSpPr/>
          <p:nvPr/>
        </p:nvSpPr>
        <p:spPr>
          <a:xfrm>
            <a:off x="822960" y="4978879"/>
            <a:ext cx="5120640" cy="914"/>
          </a:xfrm>
          <a:prstGeom prst="line">
            <a:avLst/>
          </a:prstGeom>
          <a:noFill/>
          <a:ln w="12700">
            <a:solidFill>
              <a:srgbClr val="3E5A85"/>
            </a:solidFill>
            <a:prstDash val="solid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DD9D88-BA84-BA35-59B4-4E35F6988C54}"/>
              </a:ext>
            </a:extLst>
          </p:cNvPr>
          <p:cNvSpPr txBox="1"/>
          <p:nvPr/>
        </p:nvSpPr>
        <p:spPr>
          <a:xfrm>
            <a:off x="822960" y="5095867"/>
            <a:ext cx="39215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600" dirty="0">
                <a:solidFill>
                  <a:schemeClr val="bg1"/>
                </a:solidFill>
              </a:rPr>
              <a:t>B.Tech – C.E. , Section – A1 </a:t>
            </a:r>
          </a:p>
          <a:p>
            <a:pPr>
              <a:spcAft>
                <a:spcPts val="600"/>
              </a:spcAft>
            </a:pPr>
            <a:r>
              <a:rPr lang="en-IN" sz="1600" b="1" dirty="0">
                <a:solidFill>
                  <a:srgbClr val="0EC9BD"/>
                </a:solidFill>
              </a:rPr>
              <a:t>Presented To :-</a:t>
            </a:r>
          </a:p>
          <a:p>
            <a:pPr>
              <a:spcAft>
                <a:spcPts val="600"/>
              </a:spcAft>
            </a:pPr>
            <a:r>
              <a:rPr lang="en-IN" sz="1600" dirty="0">
                <a:solidFill>
                  <a:schemeClr val="bg1"/>
                </a:solidFill>
              </a:rPr>
              <a:t>Dr. Divya Gautam 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783080"/>
            <a:ext cx="5257800" cy="1234440"/>
          </a:xfrm>
          <a:prstGeom prst="roundRect">
            <a:avLst>
              <a:gd name="adj" fmla="val 5263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83920" y="212598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883920" y="21259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400" dirty="0"/>
          </a:p>
        </p:txBody>
      </p:sp>
      <p:sp>
        <p:nvSpPr>
          <p:cNvPr id="8" name="Text 8"/>
          <p:cNvSpPr txBox="1"/>
          <p:nvPr/>
        </p:nvSpPr>
        <p:spPr>
          <a:xfrm>
            <a:off x="1676400" y="201168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The Problem Statement</a:t>
            </a:r>
            <a:endParaRPr lang="en-US" sz="1500" dirty="0"/>
          </a:p>
        </p:txBody>
      </p:sp>
      <p:sp>
        <p:nvSpPr>
          <p:cNvPr id="9" name="Text 9"/>
          <p:cNvSpPr txBox="1"/>
          <p:nvPr/>
        </p:nvSpPr>
        <p:spPr>
          <a:xfrm>
            <a:off x="1676400" y="242316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Why files need to get smaller</a:t>
            </a:r>
            <a:endParaRPr lang="en-US" sz="1050" dirty="0"/>
          </a:p>
        </p:txBody>
      </p:sp>
      <p:sp>
        <p:nvSpPr>
          <p:cNvPr id="10" name="Shape 10"/>
          <p:cNvSpPr/>
          <p:nvPr/>
        </p:nvSpPr>
        <p:spPr>
          <a:xfrm>
            <a:off x="6400800" y="1783080"/>
            <a:ext cx="5257800" cy="1234440"/>
          </a:xfrm>
          <a:prstGeom prst="roundRect">
            <a:avLst>
              <a:gd name="adj" fmla="val 5263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6644640" y="212598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644640" y="21259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400" dirty="0"/>
          </a:p>
        </p:txBody>
      </p:sp>
      <p:sp>
        <p:nvSpPr>
          <p:cNvPr id="13" name="Text 13"/>
          <p:cNvSpPr txBox="1"/>
          <p:nvPr/>
        </p:nvSpPr>
        <p:spPr>
          <a:xfrm>
            <a:off x="7437120" y="201168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The Idea &amp; Data Structures</a:t>
            </a:r>
            <a:endParaRPr lang="en-US" sz="1500" dirty="0"/>
          </a:p>
        </p:txBody>
      </p:sp>
      <p:sp>
        <p:nvSpPr>
          <p:cNvPr id="14" name="Text 14"/>
          <p:cNvSpPr txBox="1"/>
          <p:nvPr/>
        </p:nvSpPr>
        <p:spPr>
          <a:xfrm>
            <a:off x="7437120" y="242316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Why Huffman coding, and what we store data in</a:t>
            </a:r>
            <a:endParaRPr lang="en-US" sz="1050" dirty="0"/>
          </a:p>
        </p:txBody>
      </p:sp>
      <p:sp>
        <p:nvSpPr>
          <p:cNvPr id="15" name="Shape 15"/>
          <p:cNvSpPr/>
          <p:nvPr/>
        </p:nvSpPr>
        <p:spPr>
          <a:xfrm>
            <a:off x="640080" y="3246120"/>
            <a:ext cx="5257800" cy="1234440"/>
          </a:xfrm>
          <a:prstGeom prst="roundRect">
            <a:avLst>
              <a:gd name="adj" fmla="val 5263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883920" y="358902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83920" y="3589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 dirty="0"/>
          </a:p>
        </p:txBody>
      </p:sp>
      <p:sp>
        <p:nvSpPr>
          <p:cNvPr id="18" name="Text 18"/>
          <p:cNvSpPr txBox="1"/>
          <p:nvPr/>
        </p:nvSpPr>
        <p:spPr>
          <a:xfrm>
            <a:off x="1676400" y="347472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The Algorithm</a:t>
            </a:r>
            <a:endParaRPr lang="en-US" sz="1500" dirty="0"/>
          </a:p>
        </p:txBody>
      </p:sp>
      <p:sp>
        <p:nvSpPr>
          <p:cNvPr id="19" name="Text 19"/>
          <p:cNvSpPr txBox="1"/>
          <p:nvPr/>
        </p:nvSpPr>
        <p:spPr>
          <a:xfrm>
            <a:off x="1676400" y="388620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Building the tree, compressing, decompressing</a:t>
            </a:r>
            <a:endParaRPr lang="en-US" sz="1050" dirty="0"/>
          </a:p>
        </p:txBody>
      </p:sp>
      <p:sp>
        <p:nvSpPr>
          <p:cNvPr id="20" name="Shape 20"/>
          <p:cNvSpPr/>
          <p:nvPr/>
        </p:nvSpPr>
        <p:spPr>
          <a:xfrm>
            <a:off x="6400800" y="3254746"/>
            <a:ext cx="5257800" cy="1234440"/>
          </a:xfrm>
          <a:prstGeom prst="roundRect">
            <a:avLst>
              <a:gd name="adj" fmla="val 5263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6644640" y="358902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644640" y="35890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400" dirty="0"/>
          </a:p>
        </p:txBody>
      </p:sp>
      <p:sp>
        <p:nvSpPr>
          <p:cNvPr id="23" name="Text 23"/>
          <p:cNvSpPr txBox="1"/>
          <p:nvPr/>
        </p:nvSpPr>
        <p:spPr>
          <a:xfrm>
            <a:off x="7437120" y="347472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Worked Example</a:t>
            </a:r>
            <a:endParaRPr lang="en-US" sz="1500" dirty="0"/>
          </a:p>
        </p:txBody>
      </p:sp>
      <p:sp>
        <p:nvSpPr>
          <p:cNvPr id="24" name="Text 24"/>
          <p:cNvSpPr txBox="1"/>
          <p:nvPr/>
        </p:nvSpPr>
        <p:spPr>
          <a:xfrm>
            <a:off x="7437120" y="388620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A tiny input, done by hand</a:t>
            </a:r>
            <a:endParaRPr lang="en-US" sz="1050" dirty="0"/>
          </a:p>
        </p:txBody>
      </p:sp>
      <p:sp>
        <p:nvSpPr>
          <p:cNvPr id="25" name="Shape 25"/>
          <p:cNvSpPr/>
          <p:nvPr/>
        </p:nvSpPr>
        <p:spPr>
          <a:xfrm>
            <a:off x="640080" y="4709160"/>
            <a:ext cx="5257800" cy="1234440"/>
          </a:xfrm>
          <a:prstGeom prst="roundRect">
            <a:avLst>
              <a:gd name="adj" fmla="val 5263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883920" y="505206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883920" y="5052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400" dirty="0"/>
          </a:p>
        </p:txBody>
      </p:sp>
      <p:sp>
        <p:nvSpPr>
          <p:cNvPr id="28" name="Text 28"/>
          <p:cNvSpPr txBox="1"/>
          <p:nvPr/>
        </p:nvSpPr>
        <p:spPr>
          <a:xfrm>
            <a:off x="1676400" y="493776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Our Code</a:t>
            </a:r>
            <a:endParaRPr lang="en-US" sz="1500" dirty="0"/>
          </a:p>
        </p:txBody>
      </p:sp>
      <p:sp>
        <p:nvSpPr>
          <p:cNvPr id="29" name="Text 29"/>
          <p:cNvSpPr txBox="1"/>
          <p:nvPr/>
        </p:nvSpPr>
        <p:spPr>
          <a:xfrm>
            <a:off x="1676400" y="534924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The C functions behind it</a:t>
            </a:r>
            <a:endParaRPr lang="en-US" sz="1050" dirty="0"/>
          </a:p>
        </p:txBody>
      </p:sp>
      <p:sp>
        <p:nvSpPr>
          <p:cNvPr id="30" name="Shape 30"/>
          <p:cNvSpPr/>
          <p:nvPr/>
        </p:nvSpPr>
        <p:spPr>
          <a:xfrm>
            <a:off x="6400800" y="4709160"/>
            <a:ext cx="5257800" cy="1234440"/>
          </a:xfrm>
          <a:prstGeom prst="roundRect">
            <a:avLst>
              <a:gd name="adj" fmla="val 5263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31" name="Shape 31"/>
          <p:cNvSpPr/>
          <p:nvPr/>
        </p:nvSpPr>
        <p:spPr>
          <a:xfrm>
            <a:off x="6644640" y="505206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6644640" y="5052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400" dirty="0"/>
          </a:p>
        </p:txBody>
      </p:sp>
      <p:sp>
        <p:nvSpPr>
          <p:cNvPr id="33" name="Text 33"/>
          <p:cNvSpPr txBox="1"/>
          <p:nvPr/>
        </p:nvSpPr>
        <p:spPr>
          <a:xfrm>
            <a:off x="7437120" y="493776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Results, Demo &amp; Conclusion</a:t>
            </a:r>
            <a:endParaRPr lang="en-US" sz="1500" dirty="0"/>
          </a:p>
        </p:txBody>
      </p:sp>
      <p:sp>
        <p:nvSpPr>
          <p:cNvPr id="34" name="Text 34"/>
          <p:cNvSpPr txBox="1"/>
          <p:nvPr/>
        </p:nvSpPr>
        <p:spPr>
          <a:xfrm>
            <a:off x="7437120" y="5349240"/>
            <a:ext cx="400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How well it works, and it running live</a:t>
            </a:r>
            <a:endParaRPr lang="en-US" sz="105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84656DC-540C-E74D-5E24-C74E7078286C}"/>
              </a:ext>
            </a:extLst>
          </p:cNvPr>
          <p:cNvGrpSpPr/>
          <p:nvPr/>
        </p:nvGrpSpPr>
        <p:grpSpPr>
          <a:xfrm>
            <a:off x="640080" y="457200"/>
            <a:ext cx="10881360" cy="1074614"/>
            <a:chOff x="640080" y="457200"/>
            <a:chExt cx="10881360" cy="1074614"/>
          </a:xfrm>
        </p:grpSpPr>
        <p:sp>
          <p:nvSpPr>
            <p:cNvPr id="2" name="Text 0"/>
            <p:cNvSpPr txBox="1"/>
            <p:nvPr/>
          </p:nvSpPr>
          <p:spPr>
            <a:xfrm>
              <a:off x="640080" y="457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kern="0" spc="300" dirty="0">
                  <a:solidFill>
                    <a:srgbClr val="0A9C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 · PROBLEM &amp; MOTIVATION</a:t>
              </a:r>
              <a:endParaRPr lang="en-US" sz="1400" dirty="0"/>
            </a:p>
          </p:txBody>
        </p:sp>
        <p:sp>
          <p:nvSpPr>
            <p:cNvPr id="3" name="Text 1"/>
            <p:cNvSpPr txBox="1"/>
            <p:nvPr/>
          </p:nvSpPr>
          <p:spPr>
            <a:xfrm>
              <a:off x="640080" y="749808"/>
              <a:ext cx="10881360" cy="7820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Problem Statement</a:t>
              </a:r>
              <a:endParaRPr lang="en-US" sz="4800" dirty="0"/>
            </a:p>
          </p:txBody>
        </p:sp>
      </p:grpSp>
      <p:sp>
        <p:nvSpPr>
          <p:cNvPr id="5" name="Text 5"/>
          <p:cNvSpPr txBox="1"/>
          <p:nvPr/>
        </p:nvSpPr>
        <p:spPr>
          <a:xfrm>
            <a:off x="640080" y="1783080"/>
            <a:ext cx="6416328" cy="2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spcAft>
                <a:spcPts val="1800"/>
              </a:spcAft>
              <a:buNone/>
            </a:pPr>
            <a:r>
              <a:rPr lang="en-US" sz="130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Ever hit a "file too large" error uploading a project report, dataset or source code to a college portal or job application form? Most online systems cap file size — and big text files, logs and datasets blow past that limit fast.</a:t>
            </a:r>
            <a:endParaRPr lang="en-US" sz="1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30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That's because most files store far more bits than they need to. Standard encodings like ASCII spend a fixed 8 bits on every character, no matter how often it repeats — so a lot of that size is pure redundancy waiting to be squeezed out.</a:t>
            </a:r>
            <a:endParaRPr lang="en-US" sz="13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7FC6286-8EC2-6C02-E39F-3F2DC6255131}"/>
              </a:ext>
            </a:extLst>
          </p:cNvPr>
          <p:cNvGrpSpPr/>
          <p:nvPr/>
        </p:nvGrpSpPr>
        <p:grpSpPr>
          <a:xfrm>
            <a:off x="640080" y="4343400"/>
            <a:ext cx="6035040" cy="1737360"/>
            <a:chOff x="640080" y="4343400"/>
            <a:chExt cx="6035040" cy="1737360"/>
          </a:xfrm>
        </p:grpSpPr>
        <p:sp>
          <p:nvSpPr>
            <p:cNvPr id="6" name="Shape 6"/>
            <p:cNvSpPr/>
            <p:nvPr/>
          </p:nvSpPr>
          <p:spPr>
            <a:xfrm>
              <a:off x="640080" y="4343400"/>
              <a:ext cx="6035040" cy="1737360"/>
            </a:xfrm>
            <a:prstGeom prst="roundRect">
              <a:avLst>
                <a:gd name="adj" fmla="val 3500"/>
              </a:avLst>
            </a:prstGeom>
            <a:solidFill>
              <a:srgbClr val="1B2A4A"/>
            </a:solidFill>
            <a:ln>
              <a:noFill/>
            </a:ln>
            <a:effectLst>
              <a:outerShdw blurRad="76200" dist="3810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7" name="Text 7"/>
            <p:cNvSpPr txBox="1"/>
            <p:nvPr/>
          </p:nvSpPr>
          <p:spPr>
            <a:xfrm>
              <a:off x="914400" y="4526280"/>
              <a:ext cx="5486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spc="200" dirty="0">
                  <a:solidFill>
                    <a:srgbClr val="0EC9BD"/>
                  </a:solidFill>
                  <a:latin typeface="Calibri"/>
                  <a:ea typeface="Calibri"/>
                  <a:cs typeface="Calibri"/>
                </a:rPr>
                <a:t>GOAL</a:t>
              </a:r>
              <a:endParaRPr lang="en-US" dirty="0"/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914400" y="4800600"/>
              <a:ext cx="5486400" cy="11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en-US" sz="1400" b="0" i="0" dirty="0">
                  <a:solidFill>
                    <a:srgbClr val="E7EEF7"/>
                  </a:solidFill>
                  <a:latin typeface="Calibri"/>
                  <a:ea typeface="Calibri"/>
                  <a:cs typeface="Calibri"/>
                </a:rPr>
                <a:t>Design a lossless algorithm that shrinks a file by giving shorter codes to frequent bytes and longer codes to rare ones — so it fits under those limits without losing any information.</a:t>
              </a:r>
              <a:endParaRPr lang="en-US" sz="14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4888A5E-E112-51C9-8592-464089DCD64C}"/>
              </a:ext>
            </a:extLst>
          </p:cNvPr>
          <p:cNvGrpSpPr/>
          <p:nvPr/>
        </p:nvGrpSpPr>
        <p:grpSpPr>
          <a:xfrm>
            <a:off x="7281557" y="1069848"/>
            <a:ext cx="4605643" cy="4812527"/>
            <a:chOff x="7178040" y="1783080"/>
            <a:chExt cx="4343400" cy="4252000"/>
          </a:xfrm>
        </p:grpSpPr>
        <p:sp>
          <p:nvSpPr>
            <p:cNvPr id="9" name="Shape 9"/>
            <p:cNvSpPr/>
            <p:nvPr/>
          </p:nvSpPr>
          <p:spPr>
            <a:xfrm>
              <a:off x="7178040" y="1783080"/>
              <a:ext cx="4343400" cy="4252000"/>
            </a:xfrm>
            <a:prstGeom prst="roundRect">
              <a:avLst>
                <a:gd name="adj" fmla="val 3000"/>
              </a:avLst>
            </a:prstGeom>
            <a:solidFill>
              <a:srgbClr val="F3F7FB"/>
            </a:solidFill>
            <a:ln>
              <a:noFill/>
            </a:ln>
          </p:spPr>
        </p:sp>
        <p:sp>
          <p:nvSpPr>
            <p:cNvPr id="10" name="Text 10"/>
            <p:cNvSpPr txBox="1"/>
            <p:nvPr/>
          </p:nvSpPr>
          <p:spPr>
            <a:xfrm>
              <a:off x="7498080" y="2057400"/>
              <a:ext cx="3700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i="0" spc="200" dirty="0">
                  <a:solidFill>
                    <a:srgbClr val="0A9C93"/>
                  </a:solidFill>
                  <a:latin typeface="Calibri"/>
                  <a:ea typeface="Calibri"/>
                  <a:cs typeface="Calibri"/>
                </a:rPr>
                <a:t>UPLOAD LIMITS YOU'VE PROBABLY HIT</a:t>
              </a:r>
              <a:endParaRPr lang="en-US" sz="1400" dirty="0"/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7498080" y="2533080"/>
              <a:ext cx="3700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Email attachments</a:t>
              </a:r>
              <a:endParaRPr lang="en-US" sz="1200" dirty="0"/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7498080" y="2793080"/>
              <a:ext cx="3700000" cy="4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~25 MB</a:t>
              </a:r>
              <a:endParaRPr lang="en-US" sz="2800" dirty="0"/>
            </a:p>
          </p:txBody>
        </p:sp>
        <p:cxnSp>
          <p:nvCxnSpPr>
            <p:cNvPr id="13" name="Line 13"/>
            <p:cNvCxnSpPr/>
            <p:nvPr/>
          </p:nvCxnSpPr>
          <p:spPr>
            <a:xfrm>
              <a:off x="7498080" y="3313080"/>
              <a:ext cx="3703320" cy="0"/>
            </a:xfrm>
            <a:prstGeom prst="line">
              <a:avLst/>
            </a:prstGeom>
            <a:ln w="9525">
              <a:solidFill>
                <a:srgbClr val="D6E0EE"/>
              </a:solidFill>
            </a:ln>
          </p:spPr>
        </p:cxnSp>
        <p:sp>
          <p:nvSpPr>
            <p:cNvPr id="14" name="Text 14"/>
            <p:cNvSpPr txBox="1"/>
            <p:nvPr/>
          </p:nvSpPr>
          <p:spPr>
            <a:xfrm>
              <a:off x="7498080" y="3401760"/>
              <a:ext cx="3700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College / LMS portals</a:t>
              </a:r>
              <a:endParaRPr lang="en-US" sz="1200" dirty="0"/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7498080" y="3661760"/>
              <a:ext cx="3700000" cy="4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often 5–10 MB</a:t>
              </a:r>
              <a:endParaRPr lang="en-US" sz="2800" dirty="0"/>
            </a:p>
          </p:txBody>
        </p:sp>
        <p:cxnSp>
          <p:nvCxnSpPr>
            <p:cNvPr id="16" name="Line 16"/>
            <p:cNvCxnSpPr/>
            <p:nvPr/>
          </p:nvCxnSpPr>
          <p:spPr>
            <a:xfrm>
              <a:off x="7498080" y="4181760"/>
              <a:ext cx="3703320" cy="0"/>
            </a:xfrm>
            <a:prstGeom prst="line">
              <a:avLst/>
            </a:prstGeom>
            <a:ln w="9525">
              <a:solidFill>
                <a:srgbClr val="D6E0EE"/>
              </a:solidFill>
            </a:ln>
          </p:spPr>
        </p:cxnSp>
        <p:sp>
          <p:nvSpPr>
            <p:cNvPr id="17" name="Text 17"/>
            <p:cNvSpPr txBox="1"/>
            <p:nvPr/>
          </p:nvSpPr>
          <p:spPr>
            <a:xfrm>
              <a:off x="7498080" y="4270440"/>
              <a:ext cx="3700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Exam &amp; government forms</a:t>
              </a:r>
              <a:endParaRPr lang="en-US" sz="1200" dirty="0"/>
            </a:p>
          </p:txBody>
        </p:sp>
        <p:sp>
          <p:nvSpPr>
            <p:cNvPr id="18" name="Text 18"/>
            <p:cNvSpPr txBox="1"/>
            <p:nvPr/>
          </p:nvSpPr>
          <p:spPr>
            <a:xfrm>
              <a:off x="7498080" y="4530440"/>
              <a:ext cx="3700000" cy="42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8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100 KB – 1 MB</a:t>
              </a:r>
              <a:endParaRPr lang="en-US" sz="2800" dirty="0"/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7498080" y="5289783"/>
              <a:ext cx="3700000" cy="3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i="1" dirty="0">
                  <a:solidFill>
                    <a:srgbClr val="0A9C93"/>
                  </a:solidFill>
                  <a:latin typeface="Calibri"/>
                  <a:ea typeface="Calibri"/>
                  <a:cs typeface="Calibri"/>
                </a:rPr>
                <a:t>Huffman coding is one of the tools that helps files fit</a:t>
              </a:r>
              <a:endParaRPr lang="en-US" sz="1600" dirty="0"/>
            </a:p>
          </p:txBody>
        </p:sp>
      </p:grp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BEA3DD9-21BD-2C8E-0DC8-5E1C1A17ECB6}"/>
              </a:ext>
            </a:extLst>
          </p:cNvPr>
          <p:cNvGrpSpPr/>
          <p:nvPr/>
        </p:nvGrpSpPr>
        <p:grpSpPr>
          <a:xfrm>
            <a:off x="640080" y="457200"/>
            <a:ext cx="10881360" cy="1024128"/>
            <a:chOff x="640080" y="457200"/>
            <a:chExt cx="10881360" cy="1024128"/>
          </a:xfrm>
        </p:grpSpPr>
        <p:sp>
          <p:nvSpPr>
            <p:cNvPr id="2" name="Text 0"/>
            <p:cNvSpPr txBox="1"/>
            <p:nvPr/>
          </p:nvSpPr>
          <p:spPr>
            <a:xfrm>
              <a:off x="640080" y="457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kern="0" spc="300" dirty="0">
                  <a:solidFill>
                    <a:srgbClr val="0A9C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 · THE IDEA</a:t>
              </a:r>
              <a:endParaRPr lang="en-US" sz="1400" dirty="0"/>
            </a:p>
          </p:txBody>
        </p:sp>
        <p:sp>
          <p:nvSpPr>
            <p:cNvPr id="3" name="Text 1"/>
            <p:cNvSpPr txBox="1"/>
            <p:nvPr/>
          </p:nvSpPr>
          <p:spPr>
            <a:xfrm>
              <a:off x="640080" y="749808"/>
              <a:ext cx="108813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54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Huffman Coding?</a:t>
              </a:r>
              <a:endParaRPr lang="en-US" sz="5400" dirty="0"/>
            </a:p>
          </p:txBody>
        </p:sp>
      </p:grpSp>
      <p:sp>
        <p:nvSpPr>
          <p:cNvPr id="5" name="Text 5"/>
          <p:cNvSpPr txBox="1"/>
          <p:nvPr/>
        </p:nvSpPr>
        <p:spPr>
          <a:xfrm>
            <a:off x="640080" y="1783080"/>
            <a:ext cx="1088136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40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There are lots of ways to shrink a file. We picked Huffman coding because the core idea is simple: things that show up a lot get short codes, rare things get longer codes — the same idea Morse code uses, giving 'E' one dot because it's common and 'Q' four symbols because it's rare. It's also lossless — you get back the exact original file, not an approximation.</a:t>
            </a:r>
            <a:endParaRPr lang="en-US" sz="1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36494D-277F-C4D9-4DEC-07F48DEDFC95}"/>
              </a:ext>
            </a:extLst>
          </p:cNvPr>
          <p:cNvGrpSpPr/>
          <p:nvPr/>
        </p:nvGrpSpPr>
        <p:grpSpPr>
          <a:xfrm>
            <a:off x="640080" y="3429000"/>
            <a:ext cx="10881360" cy="2697480"/>
            <a:chOff x="640080" y="3429000"/>
            <a:chExt cx="10881360" cy="2697480"/>
          </a:xfrm>
        </p:grpSpPr>
        <p:sp>
          <p:nvSpPr>
            <p:cNvPr id="6" name="Shape 6"/>
            <p:cNvSpPr/>
            <p:nvPr/>
          </p:nvSpPr>
          <p:spPr>
            <a:xfrm>
              <a:off x="640080" y="3429000"/>
              <a:ext cx="3505200" cy="2697480"/>
            </a:xfrm>
            <a:prstGeom prst="roundRect">
              <a:avLst>
                <a:gd name="adj" fmla="val 3500"/>
              </a:avLst>
            </a:prstGeom>
            <a:solidFill>
              <a:srgbClr val="F3F7FB"/>
            </a:solidFill>
            <a:ln>
              <a:noFill/>
            </a:ln>
          </p:spPr>
        </p:sp>
        <p:sp>
          <p:nvSpPr>
            <p:cNvPr id="7" name="Shape 7"/>
            <p:cNvSpPr/>
            <p:nvPr/>
          </p:nvSpPr>
          <p:spPr>
            <a:xfrm>
              <a:off x="944880" y="3733800"/>
              <a:ext cx="640080" cy="640080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8" name="Text 8"/>
            <p:cNvSpPr txBox="1"/>
            <p:nvPr/>
          </p:nvSpPr>
          <p:spPr>
            <a:xfrm>
              <a:off x="944880" y="373380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</a:t>
              </a:r>
              <a:endParaRPr lang="en-US" sz="3200" dirty="0"/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944880" y="4526280"/>
              <a:ext cx="2950000" cy="3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Lossless</a:t>
              </a:r>
              <a:endParaRPr lang="en-US" dirty="0"/>
            </a:p>
          </p:txBody>
        </p:sp>
        <p:sp>
          <p:nvSpPr>
            <p:cNvPr id="10" name="Text 10"/>
            <p:cNvSpPr txBox="1"/>
            <p:nvPr/>
          </p:nvSpPr>
          <p:spPr>
            <a:xfrm>
              <a:off x="944880" y="5119000"/>
              <a:ext cx="2950000" cy="9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You get back the exact original file — nothing is approximated or lost.</a:t>
              </a:r>
              <a:endParaRPr lang="en-US" sz="1200" dirty="0"/>
            </a:p>
          </p:txBody>
        </p:sp>
        <p:sp>
          <p:nvSpPr>
            <p:cNvPr id="11" name="Shape 11"/>
            <p:cNvSpPr/>
            <p:nvPr/>
          </p:nvSpPr>
          <p:spPr>
            <a:xfrm>
              <a:off x="4328160" y="3429000"/>
              <a:ext cx="3505200" cy="2697480"/>
            </a:xfrm>
            <a:prstGeom prst="roundRect">
              <a:avLst>
                <a:gd name="adj" fmla="val 3500"/>
              </a:avLst>
            </a:prstGeom>
            <a:solidFill>
              <a:srgbClr val="F3F7FB"/>
            </a:solidFill>
            <a:ln>
              <a:noFill/>
            </a:ln>
          </p:spPr>
        </p:sp>
        <p:sp>
          <p:nvSpPr>
            <p:cNvPr id="12" name="Shape 12"/>
            <p:cNvSpPr/>
            <p:nvPr/>
          </p:nvSpPr>
          <p:spPr>
            <a:xfrm>
              <a:off x="4632960" y="3733800"/>
              <a:ext cx="640080" cy="640080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3" name="Text 13"/>
            <p:cNvSpPr txBox="1"/>
            <p:nvPr/>
          </p:nvSpPr>
          <p:spPr>
            <a:xfrm>
              <a:off x="4632960" y="373380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</a:t>
              </a:r>
              <a:endParaRPr lang="en-US" sz="3200" dirty="0"/>
            </a:p>
          </p:txBody>
        </p:sp>
        <p:sp>
          <p:nvSpPr>
            <p:cNvPr id="14" name="Text 14"/>
            <p:cNvSpPr txBox="1"/>
            <p:nvPr/>
          </p:nvSpPr>
          <p:spPr>
            <a:xfrm>
              <a:off x="4529560" y="4526280"/>
              <a:ext cx="3132880" cy="293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Common bytes get shorter codes</a:t>
              </a:r>
              <a:endParaRPr lang="en-US" dirty="0"/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4632960" y="5119000"/>
              <a:ext cx="2950000" cy="9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Bytes that appear often get short codes and rare ones get longer codes, so the file needs fewer bits overall.</a:t>
              </a:r>
              <a:endParaRPr lang="en-US" sz="1200" dirty="0"/>
            </a:p>
          </p:txBody>
        </p:sp>
        <p:sp>
          <p:nvSpPr>
            <p:cNvPr id="16" name="Shape 16"/>
            <p:cNvSpPr/>
            <p:nvPr/>
          </p:nvSpPr>
          <p:spPr>
            <a:xfrm>
              <a:off x="8016240" y="3429000"/>
              <a:ext cx="3505200" cy="2697480"/>
            </a:xfrm>
            <a:prstGeom prst="roundRect">
              <a:avLst>
                <a:gd name="adj" fmla="val 3500"/>
              </a:avLst>
            </a:prstGeom>
            <a:solidFill>
              <a:srgbClr val="F3F7FB"/>
            </a:solidFill>
            <a:ln>
              <a:noFill/>
            </a:ln>
          </p:spPr>
        </p:sp>
        <p:sp>
          <p:nvSpPr>
            <p:cNvPr id="17" name="Shape 17"/>
            <p:cNvSpPr/>
            <p:nvPr/>
          </p:nvSpPr>
          <p:spPr>
            <a:xfrm>
              <a:off x="8321040" y="3733800"/>
              <a:ext cx="640080" cy="640080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8" name="Text 18"/>
            <p:cNvSpPr txBox="1"/>
            <p:nvPr/>
          </p:nvSpPr>
          <p:spPr>
            <a:xfrm>
              <a:off x="8321040" y="3733800"/>
              <a:ext cx="6400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2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N</a:t>
              </a:r>
              <a:endParaRPr lang="en-US" sz="3200" dirty="0"/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8321040" y="4526280"/>
              <a:ext cx="2950000" cy="3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No mix-ups decoding</a:t>
              </a:r>
              <a:endParaRPr lang="en-US" dirty="0"/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8321040" y="5119000"/>
              <a:ext cx="2950000" cy="9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No code is ever the beginning of another, so the computer always knows where one byte ends and the next begins.</a:t>
              </a:r>
              <a:endParaRPr lang="en-US" sz="1200" dirty="0"/>
            </a:p>
          </p:txBody>
        </p:sp>
      </p:grp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6FEB64-DCFB-7829-CDC5-FDF9C182F223}"/>
              </a:ext>
            </a:extLst>
          </p:cNvPr>
          <p:cNvGrpSpPr/>
          <p:nvPr/>
        </p:nvGrpSpPr>
        <p:grpSpPr>
          <a:xfrm>
            <a:off x="590240" y="457200"/>
            <a:ext cx="10931200" cy="1108680"/>
            <a:chOff x="590240" y="457200"/>
            <a:chExt cx="10931200" cy="1108680"/>
          </a:xfrm>
        </p:grpSpPr>
        <p:sp>
          <p:nvSpPr>
            <p:cNvPr id="2" name="Text 0"/>
            <p:cNvSpPr txBox="1"/>
            <p:nvPr/>
          </p:nvSpPr>
          <p:spPr>
            <a:xfrm>
              <a:off x="640080" y="457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kern="0" spc="300" dirty="0">
                  <a:solidFill>
                    <a:srgbClr val="0A9C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 · THE IDEA</a:t>
              </a:r>
              <a:endParaRPr lang="en-US" sz="1400" dirty="0"/>
            </a:p>
          </p:txBody>
        </p:sp>
        <p:sp>
          <p:nvSpPr>
            <p:cNvPr id="3" name="Text 1"/>
            <p:cNvSpPr txBox="1"/>
            <p:nvPr/>
          </p:nvSpPr>
          <p:spPr>
            <a:xfrm>
              <a:off x="590240" y="645320"/>
              <a:ext cx="108813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Structures Used</a:t>
              </a:r>
              <a:endParaRPr lang="en-US" sz="4400" dirty="0"/>
            </a:p>
          </p:txBody>
        </p:sp>
        <p:sp>
          <p:nvSpPr>
            <p:cNvPr id="5" name="Text 5"/>
            <p:cNvSpPr txBox="1"/>
            <p:nvPr/>
          </p:nvSpPr>
          <p:spPr>
            <a:xfrm>
              <a:off x="640080" y="1325880"/>
              <a:ext cx="1088136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0" i="1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and why each one was the right fit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B6F5C0E-B347-9DF8-D16F-31AD71F39DBF}"/>
              </a:ext>
            </a:extLst>
          </p:cNvPr>
          <p:cNvGrpSpPr/>
          <p:nvPr/>
        </p:nvGrpSpPr>
        <p:grpSpPr>
          <a:xfrm>
            <a:off x="640079" y="1783120"/>
            <a:ext cx="11480033" cy="3975344"/>
            <a:chOff x="640080" y="1783120"/>
            <a:chExt cx="10831520" cy="3352760"/>
          </a:xfrm>
        </p:grpSpPr>
        <p:sp>
          <p:nvSpPr>
            <p:cNvPr id="6" name="Shape 6"/>
            <p:cNvSpPr/>
            <p:nvPr/>
          </p:nvSpPr>
          <p:spPr>
            <a:xfrm>
              <a:off x="640080" y="1813560"/>
              <a:ext cx="579120" cy="579120"/>
            </a:xfrm>
            <a:prstGeom prst="ellipse">
              <a:avLst/>
            </a:prstGeom>
            <a:solidFill>
              <a:srgbClr val="1B2A4A"/>
            </a:solidFill>
            <a:ln>
              <a:noFill/>
            </a:ln>
          </p:spPr>
        </p:sp>
        <p:sp>
          <p:nvSpPr>
            <p:cNvPr id="7" name="Text 7"/>
            <p:cNvSpPr txBox="1"/>
            <p:nvPr/>
          </p:nvSpPr>
          <p:spPr>
            <a:xfrm>
              <a:off x="640080" y="1813560"/>
              <a:ext cx="579120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1</a:t>
              </a:r>
              <a:endParaRPr lang="en-US" sz="2000" dirty="0"/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1371600" y="1783120"/>
              <a:ext cx="10100000" cy="3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Array — Frequency Table</a:t>
              </a:r>
              <a:endParaRPr lang="en-US" dirty="0"/>
            </a:p>
          </p:txBody>
        </p:sp>
        <p:sp>
          <p:nvSpPr>
            <p:cNvPr id="9" name="Text 9"/>
            <p:cNvSpPr txBox="1"/>
            <p:nvPr/>
          </p:nvSpPr>
          <p:spPr>
            <a:xfrm>
              <a:off x="1371600" y="2103120"/>
              <a:ext cx="10100000" cy="2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frequency[256]: counts how many times each of the 256 possible byte values occurs.</a:t>
              </a:r>
              <a:endParaRPr lang="en-US" sz="1200" dirty="0"/>
            </a:p>
          </p:txBody>
        </p:sp>
        <p:sp>
          <p:nvSpPr>
            <p:cNvPr id="10" name="Shape 10"/>
            <p:cNvSpPr/>
            <p:nvPr/>
          </p:nvSpPr>
          <p:spPr>
            <a:xfrm>
              <a:off x="640080" y="2727960"/>
              <a:ext cx="579120" cy="579120"/>
            </a:xfrm>
            <a:prstGeom prst="ellipse">
              <a:avLst/>
            </a:prstGeom>
            <a:solidFill>
              <a:srgbClr val="1B2A4A"/>
            </a:solidFill>
            <a:ln>
              <a:noFill/>
            </a:ln>
          </p:spPr>
        </p:sp>
        <p:sp>
          <p:nvSpPr>
            <p:cNvPr id="11" name="Text 11"/>
            <p:cNvSpPr txBox="1"/>
            <p:nvPr/>
          </p:nvSpPr>
          <p:spPr>
            <a:xfrm>
              <a:off x="640080" y="2727960"/>
              <a:ext cx="579120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2</a:t>
              </a:r>
              <a:endParaRPr lang="en-US" sz="2000" dirty="0"/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1330000" y="2697520"/>
              <a:ext cx="10100000" cy="3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Array of Node pointers — Huffman Nodes</a:t>
              </a:r>
              <a:endParaRPr lang="en-US" dirty="0"/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1371600" y="3017520"/>
              <a:ext cx="10100000" cy="2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nodes[256]: stores the currently available tree nodes while building the tree. Each round we scan it to find the two smallest.</a:t>
              </a:r>
              <a:endParaRPr lang="en-US" sz="1200" dirty="0"/>
            </a:p>
          </p:txBody>
        </p:sp>
        <p:sp>
          <p:nvSpPr>
            <p:cNvPr id="14" name="Shape 14"/>
            <p:cNvSpPr/>
            <p:nvPr/>
          </p:nvSpPr>
          <p:spPr>
            <a:xfrm>
              <a:off x="640080" y="3642360"/>
              <a:ext cx="579120" cy="579120"/>
            </a:xfrm>
            <a:prstGeom prst="ellipse">
              <a:avLst/>
            </a:prstGeom>
            <a:solidFill>
              <a:srgbClr val="1B2A4A"/>
            </a:solidFill>
            <a:ln>
              <a:noFill/>
            </a:ln>
          </p:spPr>
        </p:sp>
        <p:sp>
          <p:nvSpPr>
            <p:cNvPr id="15" name="Text 15"/>
            <p:cNvSpPr txBox="1"/>
            <p:nvPr/>
          </p:nvSpPr>
          <p:spPr>
            <a:xfrm>
              <a:off x="640080" y="3642360"/>
              <a:ext cx="579120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3</a:t>
              </a:r>
              <a:endParaRPr lang="en-US" sz="2000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1371600" y="3611920"/>
              <a:ext cx="10100000" cy="3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Binary Tree — Huffman Tree</a:t>
              </a:r>
              <a:endParaRPr lang="en-US" dirty="0"/>
            </a:p>
          </p:txBody>
        </p:sp>
        <p:sp>
          <p:nvSpPr>
            <p:cNvPr id="17" name="Text 17"/>
            <p:cNvSpPr txBox="1"/>
            <p:nvPr/>
          </p:nvSpPr>
          <p:spPr>
            <a:xfrm>
              <a:off x="1371600" y="3931920"/>
              <a:ext cx="10100000" cy="2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struct Node with left and right pointers. Bytes sit at the ends (leaves); the left/right path to a byte IS its code.</a:t>
              </a:r>
              <a:endParaRPr lang="en-US" sz="1200" dirty="0"/>
            </a:p>
          </p:txBody>
        </p:sp>
        <p:sp>
          <p:nvSpPr>
            <p:cNvPr id="18" name="Shape 18"/>
            <p:cNvSpPr/>
            <p:nvPr/>
          </p:nvSpPr>
          <p:spPr>
            <a:xfrm>
              <a:off x="640080" y="4556760"/>
              <a:ext cx="579120" cy="579120"/>
            </a:xfrm>
            <a:prstGeom prst="ellipse">
              <a:avLst/>
            </a:prstGeom>
            <a:solidFill>
              <a:srgbClr val="1B2A4A"/>
            </a:solidFill>
            <a:ln>
              <a:noFill/>
            </a:ln>
          </p:spPr>
        </p:sp>
        <p:sp>
          <p:nvSpPr>
            <p:cNvPr id="19" name="Text 19"/>
            <p:cNvSpPr txBox="1"/>
            <p:nvPr/>
          </p:nvSpPr>
          <p:spPr>
            <a:xfrm>
              <a:off x="640080" y="4556760"/>
              <a:ext cx="579120" cy="579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4</a:t>
              </a:r>
              <a:endParaRPr lang="en-US" sz="2000" dirty="0"/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1371600" y="4526320"/>
              <a:ext cx="10100000" cy="3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2D Array — Code Table</a:t>
              </a:r>
              <a:endParaRPr lang="en-US" dirty="0"/>
            </a:p>
          </p:txBody>
        </p:sp>
        <p:sp>
          <p:nvSpPr>
            <p:cNvPr id="21" name="Text 21"/>
            <p:cNvSpPr txBox="1"/>
            <p:nvPr/>
          </p:nvSpPr>
          <p:spPr>
            <a:xfrm>
              <a:off x="1371600" y="4846320"/>
              <a:ext cx="10100000" cy="2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codes[256][256]: stores each byte's code as text like "110", looked up while writing the compressed file.</a:t>
              </a:r>
              <a:endParaRPr lang="en-US" sz="1200" dirty="0"/>
            </a:p>
          </p:txBody>
        </p:sp>
      </p:grp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9AE624D-205A-5175-C7B9-51E267B3260B}"/>
              </a:ext>
            </a:extLst>
          </p:cNvPr>
          <p:cNvGrpSpPr/>
          <p:nvPr/>
        </p:nvGrpSpPr>
        <p:grpSpPr>
          <a:xfrm>
            <a:off x="640080" y="457200"/>
            <a:ext cx="10881360" cy="1024128"/>
            <a:chOff x="640080" y="457200"/>
            <a:chExt cx="10881360" cy="1024128"/>
          </a:xfrm>
        </p:grpSpPr>
        <p:sp>
          <p:nvSpPr>
            <p:cNvPr id="2" name="Text 0"/>
            <p:cNvSpPr txBox="1"/>
            <p:nvPr/>
          </p:nvSpPr>
          <p:spPr>
            <a:xfrm>
              <a:off x="640080" y="457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kern="0" spc="300" dirty="0">
                  <a:solidFill>
                    <a:srgbClr val="0A9C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 · THE ALGORITHM</a:t>
              </a:r>
              <a:endParaRPr lang="en-US" sz="1400" dirty="0"/>
            </a:p>
          </p:txBody>
        </p:sp>
        <p:sp>
          <p:nvSpPr>
            <p:cNvPr id="3" name="Text 1"/>
            <p:cNvSpPr txBox="1"/>
            <p:nvPr/>
          </p:nvSpPr>
          <p:spPr>
            <a:xfrm>
              <a:off x="640080" y="749808"/>
              <a:ext cx="108813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Algorithm 1 — Building the Huffman Tree</a:t>
              </a:r>
              <a:endParaRPr lang="en-US" sz="4400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6835051-D601-C21D-1AE7-38D2E89747EF}"/>
              </a:ext>
            </a:extLst>
          </p:cNvPr>
          <p:cNvGrpSpPr/>
          <p:nvPr/>
        </p:nvGrpSpPr>
        <p:grpSpPr>
          <a:xfrm>
            <a:off x="640080" y="1751680"/>
            <a:ext cx="6000000" cy="4309040"/>
            <a:chOff x="640080" y="1751680"/>
            <a:chExt cx="6000000" cy="4309040"/>
          </a:xfrm>
        </p:grpSpPr>
        <p:sp>
          <p:nvSpPr>
            <p:cNvPr id="5" name="Shape 5"/>
            <p:cNvSpPr/>
            <p:nvPr/>
          </p:nvSpPr>
          <p:spPr>
            <a:xfrm>
              <a:off x="640080" y="177393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6" name="Text 6"/>
            <p:cNvSpPr txBox="1"/>
            <p:nvPr/>
          </p:nvSpPr>
          <p:spPr>
            <a:xfrm>
              <a:off x="640080" y="177393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1</a:t>
              </a:r>
              <a:endParaRPr lang="en-US" sz="1600" dirty="0"/>
            </a:p>
          </p:txBody>
        </p:sp>
        <p:sp>
          <p:nvSpPr>
            <p:cNvPr id="7" name="Text 7"/>
            <p:cNvSpPr txBox="1"/>
            <p:nvPr/>
          </p:nvSpPr>
          <p:spPr>
            <a:xfrm>
              <a:off x="1243584" y="175168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Count byte frequencies</a:t>
              </a:r>
              <a:endParaRPr lang="en-US" sz="1600" dirty="0"/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1243584" y="200768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05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Scan the file once; tally how many times each byte value (0–255) occurs into an array.</a:t>
              </a:r>
              <a:endParaRPr lang="en-US" sz="1050" dirty="0"/>
            </a:p>
          </p:txBody>
        </p:sp>
        <p:sp>
          <p:nvSpPr>
            <p:cNvPr id="9" name="Shape 9"/>
            <p:cNvSpPr/>
            <p:nvPr/>
          </p:nvSpPr>
          <p:spPr>
            <a:xfrm>
              <a:off x="640080" y="277977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0" name="Text 10"/>
            <p:cNvSpPr txBox="1"/>
            <p:nvPr/>
          </p:nvSpPr>
          <p:spPr>
            <a:xfrm>
              <a:off x="640080" y="277977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2</a:t>
              </a:r>
              <a:endParaRPr lang="en-US" sz="1600" dirty="0"/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1243584" y="275752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Create the node list</a:t>
              </a:r>
              <a:endParaRPr lang="en-US" sz="1600" dirty="0"/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1243584" y="301352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05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Create one node for every byte that appears in the file and store the node in an array.</a:t>
              </a:r>
              <a:endParaRPr lang="en-US" sz="1050" dirty="0"/>
            </a:p>
          </p:txBody>
        </p:sp>
        <p:sp>
          <p:nvSpPr>
            <p:cNvPr id="13" name="Shape 13"/>
            <p:cNvSpPr/>
            <p:nvPr/>
          </p:nvSpPr>
          <p:spPr>
            <a:xfrm>
              <a:off x="640080" y="378561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4" name="Text 14"/>
            <p:cNvSpPr txBox="1"/>
            <p:nvPr/>
          </p:nvSpPr>
          <p:spPr>
            <a:xfrm>
              <a:off x="640080" y="378561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3</a:t>
              </a:r>
              <a:endParaRPr lang="en-US" sz="1600" dirty="0"/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1243584" y="376336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Repeatedly find and merge the two smallest</a:t>
              </a:r>
              <a:endParaRPr lang="en-US" sz="1600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1243584" y="401936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05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Search the array for the two nodes with the smallest frequencies. Remove them, create a new parent node with their combined frequency, and add it back to the array.</a:t>
              </a:r>
              <a:endParaRPr lang="en-US" sz="1050" dirty="0"/>
            </a:p>
          </p:txBody>
        </p:sp>
        <p:sp>
          <p:nvSpPr>
            <p:cNvPr id="17" name="Shape 17"/>
            <p:cNvSpPr/>
            <p:nvPr/>
          </p:nvSpPr>
          <p:spPr>
            <a:xfrm>
              <a:off x="640080" y="479145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8" name="Text 18"/>
            <p:cNvSpPr txBox="1"/>
            <p:nvPr/>
          </p:nvSpPr>
          <p:spPr>
            <a:xfrm>
              <a:off x="640080" y="479145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4</a:t>
              </a:r>
              <a:endParaRPr lang="en-US" sz="1600" dirty="0"/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1243584" y="476920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One node remains — the root</a:t>
              </a:r>
              <a:endParaRPr lang="en-US" sz="1600" dirty="0"/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1243584" y="502520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05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The last node left in the array is the root of the completed Huffman Tree.</a:t>
              </a:r>
              <a:endParaRPr lang="en-US" sz="1050" dirty="0"/>
            </a:p>
          </p:txBody>
        </p:sp>
        <p:sp>
          <p:nvSpPr>
            <p:cNvPr id="21" name="Text 21"/>
            <p:cNvSpPr txBox="1"/>
            <p:nvPr/>
          </p:nvSpPr>
          <p:spPr>
            <a:xfrm>
              <a:off x="640080" y="5760720"/>
              <a:ext cx="6000000" cy="3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0" i="1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Special case: if only one kind of byte appears, we give it a parent node so it still gets a code ("0").</a:t>
              </a:r>
              <a:endParaRPr lang="en-US" sz="1050" dirty="0"/>
            </a:p>
          </p:txBody>
        </p:sp>
      </p:grpSp>
      <p:sp>
        <p:nvSpPr>
          <p:cNvPr id="22" name="Shape 22"/>
          <p:cNvSpPr/>
          <p:nvPr/>
        </p:nvSpPr>
        <p:spPr>
          <a:xfrm>
            <a:off x="6858000" y="1783080"/>
            <a:ext cx="4663440" cy="451104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3"/>
          <p:cNvSpPr/>
          <p:nvPr/>
        </p:nvSpPr>
        <p:spPr>
          <a:xfrm>
            <a:off x="7022592" y="192938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7187184" y="192938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7351776" y="192938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7543800" y="1856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pseudocode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7132320" y="2203704"/>
            <a:ext cx="4114800" cy="394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count[0..255] = 0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for each byte in file: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count[byte] += 1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list = one node per byte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that has count &gt; 0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while list has more than 1 node: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a = remove smallest from list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b = remove smallest from list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 = new node(a.count + b.count)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p.left  = a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p.right = b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add p to list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root = the one node left in list</a:t>
            </a:r>
            <a:endParaRPr lang="en-US" sz="12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8FA3E09-17DA-B74C-6796-32AEF4038B04}"/>
              </a:ext>
            </a:extLst>
          </p:cNvPr>
          <p:cNvGrpSpPr/>
          <p:nvPr/>
        </p:nvGrpSpPr>
        <p:grpSpPr>
          <a:xfrm>
            <a:off x="640080" y="457200"/>
            <a:ext cx="10881360" cy="1024128"/>
            <a:chOff x="640080" y="457200"/>
            <a:chExt cx="10881360" cy="1024128"/>
          </a:xfrm>
        </p:grpSpPr>
        <p:sp>
          <p:nvSpPr>
            <p:cNvPr id="2" name="Text 0"/>
            <p:cNvSpPr txBox="1"/>
            <p:nvPr/>
          </p:nvSpPr>
          <p:spPr>
            <a:xfrm>
              <a:off x="640080" y="457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kern="0" spc="300" dirty="0">
                  <a:solidFill>
                    <a:srgbClr val="0A9C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 · THE ALGORITHM</a:t>
              </a:r>
              <a:endParaRPr lang="en-US" sz="1400" dirty="0"/>
            </a:p>
          </p:txBody>
        </p:sp>
        <p:sp>
          <p:nvSpPr>
            <p:cNvPr id="3" name="Text 1"/>
            <p:cNvSpPr txBox="1"/>
            <p:nvPr/>
          </p:nvSpPr>
          <p:spPr>
            <a:xfrm>
              <a:off x="640080" y="749808"/>
              <a:ext cx="108813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Algorithm 2 — Compressing the File</a:t>
              </a:r>
              <a:endParaRPr lang="en-US" sz="44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2E9036-D448-34ED-F975-84A1BB8071A8}"/>
              </a:ext>
            </a:extLst>
          </p:cNvPr>
          <p:cNvGrpSpPr/>
          <p:nvPr/>
        </p:nvGrpSpPr>
        <p:grpSpPr>
          <a:xfrm>
            <a:off x="364035" y="1981315"/>
            <a:ext cx="5943600" cy="3923520"/>
            <a:chOff x="640080" y="1751680"/>
            <a:chExt cx="5703504" cy="3923520"/>
          </a:xfrm>
        </p:grpSpPr>
        <p:sp>
          <p:nvSpPr>
            <p:cNvPr id="5" name="Shape 5"/>
            <p:cNvSpPr/>
            <p:nvPr/>
          </p:nvSpPr>
          <p:spPr>
            <a:xfrm>
              <a:off x="640080" y="177393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6" name="Text 6"/>
            <p:cNvSpPr txBox="1"/>
            <p:nvPr/>
          </p:nvSpPr>
          <p:spPr>
            <a:xfrm>
              <a:off x="640080" y="177393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1</a:t>
              </a:r>
              <a:endParaRPr lang="en-US" sz="2000" dirty="0"/>
            </a:p>
          </p:txBody>
        </p:sp>
        <p:sp>
          <p:nvSpPr>
            <p:cNvPr id="7" name="Text 7"/>
            <p:cNvSpPr txBox="1"/>
            <p:nvPr/>
          </p:nvSpPr>
          <p:spPr>
            <a:xfrm>
              <a:off x="1243584" y="175168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Turn the tree into codes</a:t>
              </a:r>
              <a:endParaRPr lang="en-US" sz="2000" dirty="0"/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1243584" y="200768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Walk down from the root: write '0' for left and '1' for right. At a byte (leaf), the path so far is that byte's code.</a:t>
              </a:r>
              <a:endParaRPr lang="en-US" sz="1200" dirty="0"/>
            </a:p>
          </p:txBody>
        </p:sp>
        <p:sp>
          <p:nvSpPr>
            <p:cNvPr id="9" name="Shape 9"/>
            <p:cNvSpPr/>
            <p:nvPr/>
          </p:nvSpPr>
          <p:spPr>
            <a:xfrm>
              <a:off x="640080" y="277977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0" name="Text 10"/>
            <p:cNvSpPr txBox="1"/>
            <p:nvPr/>
          </p:nvSpPr>
          <p:spPr>
            <a:xfrm>
              <a:off x="640080" y="277977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2</a:t>
              </a:r>
              <a:endParaRPr lang="en-US" sz="2000" dirty="0"/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1243584" y="275752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Write a small header</a:t>
              </a:r>
              <a:endParaRPr lang="en-US" sz="2000" dirty="0"/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1243584" y="301352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Save the original file size and the 256 counters, so the file can be decompressed later.</a:t>
              </a:r>
              <a:endParaRPr lang="en-US" sz="1200" dirty="0"/>
            </a:p>
          </p:txBody>
        </p:sp>
        <p:sp>
          <p:nvSpPr>
            <p:cNvPr id="13" name="Shape 13"/>
            <p:cNvSpPr/>
            <p:nvPr/>
          </p:nvSpPr>
          <p:spPr>
            <a:xfrm>
              <a:off x="640080" y="378561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4" name="Text 14"/>
            <p:cNvSpPr txBox="1"/>
            <p:nvPr/>
          </p:nvSpPr>
          <p:spPr>
            <a:xfrm>
              <a:off x="640080" y="378561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3</a:t>
              </a:r>
              <a:endParaRPr lang="en-US" sz="2000" dirty="0"/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1243584" y="376336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Write the codes bit by bit</a:t>
              </a:r>
              <a:endParaRPr lang="en-US" sz="2000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1243584" y="401936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Read the file again; for every byte, write its code one bit at a time.</a:t>
              </a:r>
              <a:endParaRPr lang="en-US" sz="1200" dirty="0"/>
            </a:p>
          </p:txBody>
        </p:sp>
        <p:sp>
          <p:nvSpPr>
            <p:cNvPr id="17" name="Shape 17"/>
            <p:cNvSpPr/>
            <p:nvPr/>
          </p:nvSpPr>
          <p:spPr>
            <a:xfrm>
              <a:off x="640080" y="479145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8" name="Text 18"/>
            <p:cNvSpPr txBox="1"/>
            <p:nvPr/>
          </p:nvSpPr>
          <p:spPr>
            <a:xfrm>
              <a:off x="640080" y="479145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4</a:t>
              </a:r>
              <a:endParaRPr lang="en-US" sz="2000" dirty="0"/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1243584" y="476920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Pack 8 bits into each byte</a:t>
              </a:r>
              <a:endParaRPr lang="en-US" sz="2000" dirty="0"/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1243584" y="502520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2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Every 8 bits become one byte in the output. The last byte is padded with 0s if needed.</a:t>
              </a:r>
              <a:endParaRPr lang="en-US" sz="1200" dirty="0"/>
            </a:p>
          </p:txBody>
        </p:sp>
      </p:grpSp>
      <p:sp>
        <p:nvSpPr>
          <p:cNvPr id="21" name="Shape 21"/>
          <p:cNvSpPr/>
          <p:nvPr/>
        </p:nvSpPr>
        <p:spPr>
          <a:xfrm>
            <a:off x="6858000" y="1783080"/>
            <a:ext cx="4663440" cy="451104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2"/>
          <p:cNvSpPr/>
          <p:nvPr/>
        </p:nvSpPr>
        <p:spPr>
          <a:xfrm>
            <a:off x="7022592" y="192938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7187184" y="192938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7351776" y="192938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7543800" y="1856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pseudocode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7132320" y="2203704"/>
            <a:ext cx="4114800" cy="394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make_codes(node, path):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 node is a leaf: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code[node.byte] = path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make_codes(node.left,  path+"0")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make_codes(node.right, path+"1")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write original_size, count[0..255]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for each byte in file: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for each bit in code[byte]: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add bit to buffer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if buffer has 8 bits: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write buffer to file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if bits are left over: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pad with 0s and write them</a:t>
            </a:r>
            <a:endParaRPr lang="en-US" sz="12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7F56EB2-2919-B88E-21D3-B6D1CC27E724}"/>
              </a:ext>
            </a:extLst>
          </p:cNvPr>
          <p:cNvGrpSpPr/>
          <p:nvPr/>
        </p:nvGrpSpPr>
        <p:grpSpPr>
          <a:xfrm>
            <a:off x="640080" y="457200"/>
            <a:ext cx="10881360" cy="1024128"/>
            <a:chOff x="640080" y="457200"/>
            <a:chExt cx="10881360" cy="1024128"/>
          </a:xfrm>
        </p:grpSpPr>
        <p:sp>
          <p:nvSpPr>
            <p:cNvPr id="2" name="Text 0"/>
            <p:cNvSpPr txBox="1"/>
            <p:nvPr/>
          </p:nvSpPr>
          <p:spPr>
            <a:xfrm>
              <a:off x="640080" y="457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kern="0" spc="300" dirty="0">
                  <a:solidFill>
                    <a:srgbClr val="0A9C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 · THE ALGORITHM</a:t>
              </a:r>
              <a:endParaRPr lang="en-US" sz="1400" dirty="0"/>
            </a:p>
          </p:txBody>
        </p:sp>
        <p:sp>
          <p:nvSpPr>
            <p:cNvPr id="3" name="Text 1"/>
            <p:cNvSpPr txBox="1"/>
            <p:nvPr/>
          </p:nvSpPr>
          <p:spPr>
            <a:xfrm>
              <a:off x="640080" y="749808"/>
              <a:ext cx="108813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Algorithm 3 — Decompressing</a:t>
              </a:r>
              <a:endParaRPr lang="en-US" sz="44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6E9D46-D5C8-C38E-E670-9CEA7E35F3BE}"/>
              </a:ext>
            </a:extLst>
          </p:cNvPr>
          <p:cNvGrpSpPr/>
          <p:nvPr/>
        </p:nvGrpSpPr>
        <p:grpSpPr>
          <a:xfrm>
            <a:off x="370936" y="1705960"/>
            <a:ext cx="5972648" cy="3786360"/>
            <a:chOff x="640080" y="1705960"/>
            <a:chExt cx="5703504" cy="3786360"/>
          </a:xfrm>
        </p:grpSpPr>
        <p:sp>
          <p:nvSpPr>
            <p:cNvPr id="5" name="Shape 5"/>
            <p:cNvSpPr/>
            <p:nvPr/>
          </p:nvSpPr>
          <p:spPr>
            <a:xfrm>
              <a:off x="640080" y="172821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6" name="Text 6"/>
            <p:cNvSpPr txBox="1"/>
            <p:nvPr/>
          </p:nvSpPr>
          <p:spPr>
            <a:xfrm>
              <a:off x="640080" y="172821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1</a:t>
              </a:r>
              <a:endParaRPr lang="en-US" dirty="0"/>
            </a:p>
          </p:txBody>
        </p:sp>
        <p:sp>
          <p:nvSpPr>
            <p:cNvPr id="7" name="Text 7"/>
            <p:cNvSpPr txBox="1"/>
            <p:nvPr/>
          </p:nvSpPr>
          <p:spPr>
            <a:xfrm>
              <a:off x="1243584" y="170596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Read the header</a:t>
              </a:r>
              <a:endParaRPr lang="en-US" dirty="0"/>
            </a:p>
          </p:txBody>
        </p:sp>
        <p:sp>
          <p:nvSpPr>
            <p:cNvPr id="8" name="Text 8"/>
            <p:cNvSpPr txBox="1"/>
            <p:nvPr/>
          </p:nvSpPr>
          <p:spPr>
            <a:xfrm>
              <a:off x="1243584" y="196196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1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Read the original file size and the frequency table from the compressed file.</a:t>
              </a:r>
              <a:endParaRPr lang="en-US" sz="1100" dirty="0"/>
            </a:p>
          </p:txBody>
        </p:sp>
        <p:sp>
          <p:nvSpPr>
            <p:cNvPr id="9" name="Shape 9"/>
            <p:cNvSpPr/>
            <p:nvPr/>
          </p:nvSpPr>
          <p:spPr>
            <a:xfrm>
              <a:off x="640080" y="268833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0" name="Text 10"/>
            <p:cNvSpPr txBox="1"/>
            <p:nvPr/>
          </p:nvSpPr>
          <p:spPr>
            <a:xfrm>
              <a:off x="640080" y="268833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2</a:t>
              </a:r>
              <a:endParaRPr lang="en-US" dirty="0"/>
            </a:p>
          </p:txBody>
        </p:sp>
        <p:sp>
          <p:nvSpPr>
            <p:cNvPr id="11" name="Text 11"/>
            <p:cNvSpPr txBox="1"/>
            <p:nvPr/>
          </p:nvSpPr>
          <p:spPr>
            <a:xfrm>
              <a:off x="1243584" y="266608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Re-Run the identical tree</a:t>
              </a:r>
              <a:endParaRPr lang="en-US" dirty="0"/>
            </a:p>
          </p:txBody>
        </p:sp>
        <p:sp>
          <p:nvSpPr>
            <p:cNvPr id="12" name="Text 12"/>
            <p:cNvSpPr txBox="1"/>
            <p:nvPr/>
          </p:nvSpPr>
          <p:spPr>
            <a:xfrm>
              <a:off x="1243584" y="292208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1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Run the same tree-building step on the stored frequency table. It is deterministic, so it gives the exact tree used to compress — the tree itself is never stored.</a:t>
              </a:r>
              <a:endParaRPr lang="en-US" sz="1100" dirty="0"/>
            </a:p>
          </p:txBody>
        </p:sp>
        <p:sp>
          <p:nvSpPr>
            <p:cNvPr id="13" name="Shape 13"/>
            <p:cNvSpPr/>
            <p:nvPr/>
          </p:nvSpPr>
          <p:spPr>
            <a:xfrm>
              <a:off x="640080" y="364845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4" name="Text 14"/>
            <p:cNvSpPr txBox="1"/>
            <p:nvPr/>
          </p:nvSpPr>
          <p:spPr>
            <a:xfrm>
              <a:off x="640080" y="364845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3</a:t>
              </a:r>
              <a:endParaRPr lang="en-US" dirty="0"/>
            </a:p>
          </p:txBody>
        </p:sp>
        <p:sp>
          <p:nvSpPr>
            <p:cNvPr id="15" name="Text 15"/>
            <p:cNvSpPr txBox="1"/>
            <p:nvPr/>
          </p:nvSpPr>
          <p:spPr>
            <a:xfrm>
              <a:off x="1243584" y="362620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Walk bit by bit</a:t>
              </a:r>
              <a:endParaRPr lang="en-US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1243584" y="388220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1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Read the compressed bits one at a time: move left on 0, right on 1.</a:t>
              </a:r>
              <a:endParaRPr lang="en-US" sz="1100" dirty="0"/>
            </a:p>
          </p:txBody>
        </p:sp>
        <p:sp>
          <p:nvSpPr>
            <p:cNvPr id="17" name="Shape 17"/>
            <p:cNvSpPr/>
            <p:nvPr/>
          </p:nvSpPr>
          <p:spPr>
            <a:xfrm>
              <a:off x="640080" y="4608576"/>
              <a:ext cx="475488" cy="475488"/>
            </a:xfrm>
            <a:prstGeom prst="ellipse">
              <a:avLst/>
            </a:prstGeom>
            <a:solidFill>
              <a:srgbClr val="0EC9BD"/>
            </a:solidFill>
            <a:ln>
              <a:noFill/>
            </a:ln>
          </p:spPr>
        </p:sp>
        <p:sp>
          <p:nvSpPr>
            <p:cNvPr id="18" name="Text 18"/>
            <p:cNvSpPr txBox="1"/>
            <p:nvPr/>
          </p:nvSpPr>
          <p:spPr>
            <a:xfrm>
              <a:off x="640080" y="460857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4</a:t>
              </a:r>
              <a:endParaRPr lang="en-US" dirty="0"/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1243584" y="4586320"/>
              <a:ext cx="51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Leaf reached → output and restart</a:t>
              </a:r>
              <a:endParaRPr lang="en-US" dirty="0"/>
            </a:p>
          </p:txBody>
        </p:sp>
        <p:sp>
          <p:nvSpPr>
            <p:cNvPr id="20" name="Text 20"/>
            <p:cNvSpPr txBox="1"/>
            <p:nvPr/>
          </p:nvSpPr>
          <p:spPr>
            <a:xfrm>
              <a:off x="1243584" y="4842320"/>
              <a:ext cx="5100000" cy="65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100" b="0" i="0" dirty="0">
                  <a:solidFill>
                    <a:srgbClr val="5B6B82"/>
                  </a:solidFill>
                  <a:latin typeface="Calibri"/>
                  <a:ea typeface="Calibri"/>
                  <a:cs typeface="Calibri"/>
                </a:rPr>
                <a:t>Write that byte, then jump back to the root. Stop once the original file size has been restored — this ignores the padding bits in the last byte.</a:t>
              </a:r>
              <a:endParaRPr lang="en-US" sz="1100" dirty="0"/>
            </a:p>
          </p:txBody>
        </p:sp>
      </p:grpSp>
      <p:sp>
        <p:nvSpPr>
          <p:cNvPr id="21" name="Shape 21"/>
          <p:cNvSpPr/>
          <p:nvPr/>
        </p:nvSpPr>
        <p:spPr>
          <a:xfrm>
            <a:off x="640080" y="5760720"/>
            <a:ext cx="5852160" cy="563880"/>
          </a:xfrm>
          <a:prstGeom prst="roundRect">
            <a:avLst>
              <a:gd name="adj" fmla="val 9000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822960" y="5760720"/>
            <a:ext cx="55000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i="0" dirty="0">
                <a:solidFill>
                  <a:srgbClr val="0A9C93"/>
                </a:solidFill>
                <a:latin typeface="Calibri"/>
                <a:ea typeface="Calibri"/>
                <a:cs typeface="Calibri"/>
              </a:rPr>
              <a:t>Key insight:  </a:t>
            </a:r>
            <a:r>
              <a:rPr lang="en-US" sz="9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we save only the 256 counters, not the tree — it is rebuilt the same way every time.</a:t>
            </a:r>
            <a:endParaRPr lang="en-US" sz="900" dirty="0"/>
          </a:p>
        </p:txBody>
      </p:sp>
      <p:sp>
        <p:nvSpPr>
          <p:cNvPr id="23" name="Shape 23"/>
          <p:cNvSpPr/>
          <p:nvPr/>
        </p:nvSpPr>
        <p:spPr>
          <a:xfrm>
            <a:off x="6858000" y="1783080"/>
            <a:ext cx="4663440" cy="451104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4"/>
          <p:cNvSpPr/>
          <p:nvPr/>
        </p:nvSpPr>
        <p:spPr>
          <a:xfrm>
            <a:off x="7022592" y="192938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7187184" y="192938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7351776" y="192938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7543800" y="1856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pseudocode</a:t>
            </a:r>
            <a:endParaRPr lang="en-US" sz="1000" dirty="0"/>
          </a:p>
        </p:txBody>
      </p:sp>
      <p:sp>
        <p:nvSpPr>
          <p:cNvPr id="28" name="Text 28"/>
          <p:cNvSpPr txBox="1"/>
          <p:nvPr/>
        </p:nvSpPr>
        <p:spPr>
          <a:xfrm>
            <a:off x="7132320" y="2203704"/>
            <a:ext cx="4114800" cy="394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read original_size, count[0..255]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root = build_tree(count)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node = root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for each bit in compressed file: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 bit == 0: node = node.left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else:        node = node.right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 node is a leaf: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write node.byte to output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node = root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if bytes_written == original_size: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stop</a:t>
            </a:r>
            <a:endParaRPr lang="en-US" sz="12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7648B5DE-3881-BB80-9BE8-812BC59346CF}"/>
              </a:ext>
            </a:extLst>
          </p:cNvPr>
          <p:cNvGrpSpPr/>
          <p:nvPr/>
        </p:nvGrpSpPr>
        <p:grpSpPr>
          <a:xfrm>
            <a:off x="640080" y="457200"/>
            <a:ext cx="10881360" cy="1024128"/>
            <a:chOff x="640080" y="457200"/>
            <a:chExt cx="10881360" cy="1024128"/>
          </a:xfrm>
        </p:grpSpPr>
        <p:sp>
          <p:nvSpPr>
            <p:cNvPr id="2" name="Text 0"/>
            <p:cNvSpPr txBox="1"/>
            <p:nvPr/>
          </p:nvSpPr>
          <p:spPr>
            <a:xfrm>
              <a:off x="640080" y="457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kern="0" spc="300" dirty="0">
                  <a:solidFill>
                    <a:srgbClr val="0A9C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 · WORKED EXAMPLE</a:t>
              </a:r>
              <a:endParaRPr lang="en-US" sz="1400" dirty="0"/>
            </a:p>
          </p:txBody>
        </p:sp>
        <p:sp>
          <p:nvSpPr>
            <p:cNvPr id="3" name="Text 1"/>
            <p:cNvSpPr txBox="1"/>
            <p:nvPr/>
          </p:nvSpPr>
          <p:spPr>
            <a:xfrm>
              <a:off x="640080" y="749808"/>
              <a:ext cx="108813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Building the Tree, by Hand</a:t>
              </a:r>
              <a:endParaRPr lang="en-US" sz="4400" dirty="0"/>
            </a:p>
          </p:txBody>
        </p:sp>
      </p:grpSp>
      <p:sp>
        <p:nvSpPr>
          <p:cNvPr id="4" name="Text 2"/>
          <p:cNvSpPr txBox="1"/>
          <p:nvPr/>
        </p:nvSpPr>
        <p:spPr>
          <a:xfrm>
            <a:off x="545189" y="166689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string:  </a:t>
            </a: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"ABRACADABRA"</a:t>
            </a: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(11 bytes) — our program builds this exact tree</a:t>
            </a:r>
            <a:endParaRPr lang="en-US" sz="16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85F0C66-39A6-0E55-BC84-61CEC6AD5A98}"/>
              </a:ext>
            </a:extLst>
          </p:cNvPr>
          <p:cNvGrpSpPr/>
          <p:nvPr/>
        </p:nvGrpSpPr>
        <p:grpSpPr>
          <a:xfrm>
            <a:off x="910741" y="2415192"/>
            <a:ext cx="2927438" cy="3110207"/>
            <a:chOff x="640080" y="1828800"/>
            <a:chExt cx="2286000" cy="2560320"/>
          </a:xfrm>
        </p:grpSpPr>
        <p:sp>
          <p:nvSpPr>
            <p:cNvPr id="5" name="Shape 3"/>
            <p:cNvSpPr/>
            <p:nvPr/>
          </p:nvSpPr>
          <p:spPr>
            <a:xfrm>
              <a:off x="640080" y="1828800"/>
              <a:ext cx="2286000" cy="457200"/>
            </a:xfrm>
            <a:prstGeom prst="roundRect">
              <a:avLst>
                <a:gd name="adj" fmla="val 12000"/>
              </a:avLst>
            </a:prstGeom>
            <a:solidFill>
              <a:srgbClr val="1B2A4A"/>
            </a:solidFill>
            <a:ln/>
          </p:spPr>
        </p:sp>
        <p:sp>
          <p:nvSpPr>
            <p:cNvPr id="6" name="Text 4"/>
            <p:cNvSpPr txBox="1"/>
            <p:nvPr/>
          </p:nvSpPr>
          <p:spPr>
            <a:xfrm>
              <a:off x="640080" y="1828800"/>
              <a:ext cx="1143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Byte</a:t>
              </a:r>
              <a:endParaRPr lang="en-US" dirty="0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1783080" y="1828800"/>
              <a:ext cx="1143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Freq.</a:t>
              </a:r>
              <a:endParaRPr lang="en-US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40080" y="2286000"/>
              <a:ext cx="2286000" cy="420624"/>
            </a:xfrm>
            <a:prstGeom prst="rect">
              <a:avLst/>
            </a:prstGeom>
            <a:solidFill>
              <a:srgbClr val="F3F7FB"/>
            </a:solidFill>
            <a:ln w="9525">
              <a:solidFill>
                <a:srgbClr val="DCE5F0"/>
              </a:solidFill>
              <a:prstDash val="solid"/>
            </a:ln>
          </p:spPr>
        </p:sp>
        <p:sp>
          <p:nvSpPr>
            <p:cNvPr id="9" name="Text 7"/>
            <p:cNvSpPr txBox="1"/>
            <p:nvPr/>
          </p:nvSpPr>
          <p:spPr>
            <a:xfrm>
              <a:off x="640080" y="2286000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</a:t>
              </a:r>
              <a:endParaRPr lang="en-US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1783080" y="2286000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5B6B8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5</a:t>
              </a:r>
              <a:endParaRPr lang="en-US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40080" y="2706624"/>
              <a:ext cx="228600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5F0"/>
              </a:solidFill>
              <a:prstDash val="solid"/>
            </a:ln>
          </p:spPr>
        </p:sp>
        <p:sp>
          <p:nvSpPr>
            <p:cNvPr id="12" name="Text 10"/>
            <p:cNvSpPr txBox="1"/>
            <p:nvPr/>
          </p:nvSpPr>
          <p:spPr>
            <a:xfrm>
              <a:off x="640080" y="2706624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</a:t>
              </a:r>
              <a:endParaRPr lang="en-US" dirty="0"/>
            </a:p>
          </p:txBody>
        </p:sp>
        <p:sp>
          <p:nvSpPr>
            <p:cNvPr id="13" name="Text 11"/>
            <p:cNvSpPr txBox="1"/>
            <p:nvPr/>
          </p:nvSpPr>
          <p:spPr>
            <a:xfrm>
              <a:off x="1783080" y="2706624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5B6B8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40080" y="3127248"/>
              <a:ext cx="2286000" cy="420624"/>
            </a:xfrm>
            <a:prstGeom prst="rect">
              <a:avLst/>
            </a:prstGeom>
            <a:solidFill>
              <a:srgbClr val="F3F7FB"/>
            </a:solidFill>
            <a:ln w="9525">
              <a:solidFill>
                <a:srgbClr val="DCE5F0"/>
              </a:solidFill>
              <a:prstDash val="solid"/>
            </a:ln>
          </p:spPr>
        </p:sp>
        <p:sp>
          <p:nvSpPr>
            <p:cNvPr id="15" name="Text 13"/>
            <p:cNvSpPr txBox="1"/>
            <p:nvPr/>
          </p:nvSpPr>
          <p:spPr>
            <a:xfrm>
              <a:off x="640080" y="3127248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</a:t>
              </a:r>
              <a:endParaRPr lang="en-US" dirty="0"/>
            </a:p>
          </p:txBody>
        </p:sp>
        <p:sp>
          <p:nvSpPr>
            <p:cNvPr id="16" name="Text 14"/>
            <p:cNvSpPr txBox="1"/>
            <p:nvPr/>
          </p:nvSpPr>
          <p:spPr>
            <a:xfrm>
              <a:off x="1783080" y="3127248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5B6B8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40080" y="3547872"/>
              <a:ext cx="2286000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E5F0"/>
              </a:solidFill>
              <a:prstDash val="solid"/>
            </a:ln>
          </p:spPr>
        </p:sp>
        <p:sp>
          <p:nvSpPr>
            <p:cNvPr id="18" name="Text 16"/>
            <p:cNvSpPr txBox="1"/>
            <p:nvPr/>
          </p:nvSpPr>
          <p:spPr>
            <a:xfrm>
              <a:off x="640080" y="3547872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</a:t>
              </a:r>
              <a:endParaRPr lang="en-US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1783080" y="3547872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5B6B8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0080" y="3968496"/>
              <a:ext cx="2286000" cy="420624"/>
            </a:xfrm>
            <a:prstGeom prst="rect">
              <a:avLst/>
            </a:prstGeom>
            <a:solidFill>
              <a:srgbClr val="F3F7FB"/>
            </a:solidFill>
            <a:ln w="9525">
              <a:solidFill>
                <a:srgbClr val="DCE5F0"/>
              </a:solidFill>
              <a:prstDash val="solid"/>
            </a:ln>
          </p:spPr>
        </p:sp>
        <p:sp>
          <p:nvSpPr>
            <p:cNvPr id="21" name="Text 19"/>
            <p:cNvSpPr txBox="1"/>
            <p:nvPr/>
          </p:nvSpPr>
          <p:spPr>
            <a:xfrm>
              <a:off x="640080" y="3968496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</a:t>
              </a:r>
              <a:endParaRPr lang="en-US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1783080" y="3968496"/>
              <a:ext cx="11430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5B6B8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dirty="0"/>
            </a:p>
          </p:txBody>
        </p:sp>
      </p:grpSp>
      <p:sp>
        <p:nvSpPr>
          <p:cNvPr id="70" name="Text 68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4E9C949-3EC8-47B3-4244-FAE9655A688C}"/>
              </a:ext>
            </a:extLst>
          </p:cNvPr>
          <p:cNvGrpSpPr/>
          <p:nvPr/>
        </p:nvGrpSpPr>
        <p:grpSpPr>
          <a:xfrm>
            <a:off x="4917056" y="2167128"/>
            <a:ext cx="6970143" cy="4636008"/>
            <a:chOff x="3291840" y="1572768"/>
            <a:chExt cx="8595360" cy="5230368"/>
          </a:xfrm>
        </p:grpSpPr>
        <p:sp>
          <p:nvSpPr>
            <p:cNvPr id="23" name="Shape 21"/>
            <p:cNvSpPr/>
            <p:nvPr/>
          </p:nvSpPr>
          <p:spPr>
            <a:xfrm flipH="1">
              <a:off x="3657600" y="1828800"/>
              <a:ext cx="3017520" cy="1051560"/>
            </a:xfrm>
            <a:prstGeom prst="line">
              <a:avLst/>
            </a:prstGeom>
            <a:noFill/>
            <a:ln w="19050">
              <a:solidFill>
                <a:srgbClr val="AAB8CC"/>
              </a:solidFill>
              <a:prstDash val="solid"/>
            </a:ln>
          </p:spPr>
        </p:sp>
        <p:sp>
          <p:nvSpPr>
            <p:cNvPr id="24" name="Shape 22"/>
            <p:cNvSpPr/>
            <p:nvPr/>
          </p:nvSpPr>
          <p:spPr>
            <a:xfrm>
              <a:off x="5133442" y="2160727"/>
              <a:ext cx="237744" cy="219456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6350">
              <a:solidFill>
                <a:srgbClr val="5B6B82"/>
              </a:solidFill>
              <a:prstDash val="solid"/>
            </a:ln>
          </p:spPr>
        </p:sp>
        <p:sp>
          <p:nvSpPr>
            <p:cNvPr id="25" name="Text 23"/>
            <p:cNvSpPr txBox="1"/>
            <p:nvPr/>
          </p:nvSpPr>
          <p:spPr>
            <a:xfrm>
              <a:off x="5133442" y="2160727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6675120" y="1828800"/>
              <a:ext cx="1920240" cy="1051560"/>
            </a:xfrm>
            <a:prstGeom prst="line">
              <a:avLst/>
            </a:prstGeom>
            <a:noFill/>
            <a:ln w="19050">
              <a:solidFill>
                <a:srgbClr val="AAB8CC"/>
              </a:solidFill>
              <a:prstDash val="solid"/>
            </a:ln>
          </p:spPr>
        </p:sp>
        <p:sp>
          <p:nvSpPr>
            <p:cNvPr id="27" name="Shape 25"/>
            <p:cNvSpPr/>
            <p:nvPr/>
          </p:nvSpPr>
          <p:spPr>
            <a:xfrm>
              <a:off x="7536485" y="2160727"/>
              <a:ext cx="237744" cy="219456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6350">
              <a:solidFill>
                <a:srgbClr val="5B6B82"/>
              </a:solidFill>
              <a:prstDash val="solid"/>
            </a:ln>
          </p:spPr>
        </p:sp>
        <p:sp>
          <p:nvSpPr>
            <p:cNvPr id="28" name="Text 26"/>
            <p:cNvSpPr txBox="1"/>
            <p:nvPr/>
          </p:nvSpPr>
          <p:spPr>
            <a:xfrm>
              <a:off x="7536485" y="2160727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29" name="Shape 27"/>
            <p:cNvSpPr/>
            <p:nvPr/>
          </p:nvSpPr>
          <p:spPr>
            <a:xfrm flipH="1">
              <a:off x="6949440" y="2880360"/>
              <a:ext cx="1645920" cy="1051560"/>
            </a:xfrm>
            <a:prstGeom prst="line">
              <a:avLst/>
            </a:prstGeom>
            <a:noFill/>
            <a:ln w="19050">
              <a:solidFill>
                <a:srgbClr val="AAB8CC"/>
              </a:solidFill>
              <a:prstDash val="solid"/>
            </a:ln>
          </p:spPr>
        </p:sp>
        <p:sp>
          <p:nvSpPr>
            <p:cNvPr id="30" name="Shape 28"/>
            <p:cNvSpPr/>
            <p:nvPr/>
          </p:nvSpPr>
          <p:spPr>
            <a:xfrm>
              <a:off x="7629754" y="3212287"/>
              <a:ext cx="237744" cy="219456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6350">
              <a:solidFill>
                <a:srgbClr val="5B6B82"/>
              </a:solidFill>
              <a:prstDash val="solid"/>
            </a:ln>
          </p:spPr>
        </p:sp>
        <p:sp>
          <p:nvSpPr>
            <p:cNvPr id="31" name="Text 29"/>
            <p:cNvSpPr txBox="1"/>
            <p:nvPr/>
          </p:nvSpPr>
          <p:spPr>
            <a:xfrm>
              <a:off x="7629754" y="3212287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1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8595360" y="2880360"/>
              <a:ext cx="1097280" cy="1051560"/>
            </a:xfrm>
            <a:prstGeom prst="line">
              <a:avLst/>
            </a:prstGeom>
            <a:noFill/>
            <a:ln w="19050">
              <a:solidFill>
                <a:srgbClr val="AAB8CC"/>
              </a:solidFill>
              <a:prstDash val="solid"/>
            </a:ln>
          </p:spPr>
        </p:sp>
        <p:sp>
          <p:nvSpPr>
            <p:cNvPr id="33" name="Shape 31"/>
            <p:cNvSpPr/>
            <p:nvPr/>
          </p:nvSpPr>
          <p:spPr>
            <a:xfrm>
              <a:off x="9111082" y="3212287"/>
              <a:ext cx="237744" cy="219456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6350">
              <a:solidFill>
                <a:srgbClr val="5B6B82"/>
              </a:solidFill>
              <a:prstDash val="solid"/>
            </a:ln>
          </p:spPr>
        </p:sp>
        <p:sp>
          <p:nvSpPr>
            <p:cNvPr id="34" name="Text 32"/>
            <p:cNvSpPr txBox="1"/>
            <p:nvPr/>
          </p:nvSpPr>
          <p:spPr>
            <a:xfrm>
              <a:off x="9111082" y="3212287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35" name="Shape 33"/>
            <p:cNvSpPr/>
            <p:nvPr/>
          </p:nvSpPr>
          <p:spPr>
            <a:xfrm flipH="1">
              <a:off x="8595360" y="3931920"/>
              <a:ext cx="1097280" cy="1051560"/>
            </a:xfrm>
            <a:prstGeom prst="line">
              <a:avLst/>
            </a:prstGeom>
            <a:noFill/>
            <a:ln w="19050">
              <a:solidFill>
                <a:srgbClr val="AAB8CC"/>
              </a:solidFill>
              <a:prstDash val="solid"/>
            </a:ln>
          </p:spPr>
        </p:sp>
        <p:sp>
          <p:nvSpPr>
            <p:cNvPr id="36" name="Shape 34"/>
            <p:cNvSpPr/>
            <p:nvPr/>
          </p:nvSpPr>
          <p:spPr>
            <a:xfrm>
              <a:off x="8957462" y="4263847"/>
              <a:ext cx="237744" cy="219456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6350">
              <a:solidFill>
                <a:srgbClr val="5B6B82"/>
              </a:solidFill>
              <a:prstDash val="solid"/>
            </a:ln>
          </p:spPr>
        </p:sp>
        <p:sp>
          <p:nvSpPr>
            <p:cNvPr id="37" name="Text 35"/>
            <p:cNvSpPr txBox="1"/>
            <p:nvPr/>
          </p:nvSpPr>
          <p:spPr>
            <a:xfrm>
              <a:off x="8957462" y="4263847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1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9692640" y="3931920"/>
              <a:ext cx="822960" cy="1051560"/>
            </a:xfrm>
            <a:prstGeom prst="line">
              <a:avLst/>
            </a:prstGeom>
            <a:noFill/>
            <a:ln w="19050">
              <a:solidFill>
                <a:srgbClr val="AAB8CC"/>
              </a:solidFill>
              <a:prstDash val="solid"/>
            </a:ln>
          </p:spPr>
        </p:sp>
        <p:sp>
          <p:nvSpPr>
            <p:cNvPr id="39" name="Shape 37"/>
            <p:cNvSpPr/>
            <p:nvPr/>
          </p:nvSpPr>
          <p:spPr>
            <a:xfrm>
              <a:off x="10093147" y="4263847"/>
              <a:ext cx="237744" cy="219456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6350">
              <a:solidFill>
                <a:srgbClr val="5B6B82"/>
              </a:solidFill>
              <a:prstDash val="solid"/>
            </a:ln>
          </p:spPr>
        </p:sp>
        <p:sp>
          <p:nvSpPr>
            <p:cNvPr id="40" name="Text 38"/>
            <p:cNvSpPr txBox="1"/>
            <p:nvPr/>
          </p:nvSpPr>
          <p:spPr>
            <a:xfrm>
              <a:off x="10093147" y="4263847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41" name="Shape 39"/>
            <p:cNvSpPr/>
            <p:nvPr/>
          </p:nvSpPr>
          <p:spPr>
            <a:xfrm flipH="1">
              <a:off x="9601200" y="4983480"/>
              <a:ext cx="914400" cy="1051560"/>
            </a:xfrm>
            <a:prstGeom prst="line">
              <a:avLst/>
            </a:prstGeom>
            <a:noFill/>
            <a:ln w="19050">
              <a:solidFill>
                <a:srgbClr val="AAB8CC"/>
              </a:solidFill>
              <a:prstDash val="solid"/>
            </a:ln>
          </p:spPr>
        </p:sp>
        <p:sp>
          <p:nvSpPr>
            <p:cNvPr id="42" name="Shape 40"/>
            <p:cNvSpPr/>
            <p:nvPr/>
          </p:nvSpPr>
          <p:spPr>
            <a:xfrm>
              <a:off x="9857232" y="5315407"/>
              <a:ext cx="237744" cy="219456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6350">
              <a:solidFill>
                <a:srgbClr val="5B6B82"/>
              </a:solidFill>
              <a:prstDash val="solid"/>
            </a:ln>
          </p:spPr>
        </p:sp>
        <p:sp>
          <p:nvSpPr>
            <p:cNvPr id="43" name="Text 41"/>
            <p:cNvSpPr txBox="1"/>
            <p:nvPr/>
          </p:nvSpPr>
          <p:spPr>
            <a:xfrm>
              <a:off x="9857232" y="5315407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1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10515600" y="4983480"/>
              <a:ext cx="731520" cy="1051560"/>
            </a:xfrm>
            <a:prstGeom prst="line">
              <a:avLst/>
            </a:prstGeom>
            <a:noFill/>
            <a:ln w="19050">
              <a:solidFill>
                <a:srgbClr val="AAB8CC"/>
              </a:solidFill>
              <a:prstDash val="solid"/>
            </a:ln>
          </p:spPr>
        </p:sp>
        <p:sp>
          <p:nvSpPr>
            <p:cNvPr id="45" name="Shape 43"/>
            <p:cNvSpPr/>
            <p:nvPr/>
          </p:nvSpPr>
          <p:spPr>
            <a:xfrm>
              <a:off x="10877702" y="5315407"/>
              <a:ext cx="237744" cy="219456"/>
            </a:xfrm>
            <a:prstGeom prst="roundRect">
              <a:avLst>
                <a:gd name="adj" fmla="val 20833"/>
              </a:avLst>
            </a:prstGeom>
            <a:solidFill>
              <a:srgbClr val="FFFFFF"/>
            </a:solidFill>
            <a:ln w="6350">
              <a:solidFill>
                <a:srgbClr val="5B6B82"/>
              </a:solidFill>
              <a:prstDash val="solid"/>
            </a:ln>
          </p:spPr>
        </p:sp>
        <p:sp>
          <p:nvSpPr>
            <p:cNvPr id="46" name="Text 44"/>
            <p:cNvSpPr txBox="1"/>
            <p:nvPr/>
          </p:nvSpPr>
          <p:spPr>
            <a:xfrm>
              <a:off x="10877702" y="5315407"/>
              <a:ext cx="23774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B2A4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6419088" y="1572768"/>
              <a:ext cx="512064" cy="512064"/>
            </a:xfrm>
            <a:prstGeom prst="ellipse">
              <a:avLst/>
            </a:prstGeom>
            <a:solidFill>
              <a:srgbClr val="1B2A4A"/>
            </a:solidFill>
            <a:ln/>
          </p:spPr>
        </p:sp>
        <p:sp>
          <p:nvSpPr>
            <p:cNvPr id="48" name="Text 46"/>
            <p:cNvSpPr txBox="1"/>
            <p:nvPr/>
          </p:nvSpPr>
          <p:spPr>
            <a:xfrm>
              <a:off x="6419088" y="1572768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</a:t>
              </a:r>
              <a:endParaRPr lang="en-US" sz="15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8339328" y="2624328"/>
              <a:ext cx="512064" cy="512064"/>
            </a:xfrm>
            <a:prstGeom prst="ellipse">
              <a:avLst/>
            </a:prstGeom>
            <a:solidFill>
              <a:srgbClr val="1B2A4A"/>
            </a:solidFill>
            <a:ln/>
          </p:spPr>
        </p:sp>
        <p:sp>
          <p:nvSpPr>
            <p:cNvPr id="50" name="Text 48"/>
            <p:cNvSpPr txBox="1"/>
            <p:nvPr/>
          </p:nvSpPr>
          <p:spPr>
            <a:xfrm>
              <a:off x="8339328" y="2624328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5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9436608" y="3675888"/>
              <a:ext cx="512064" cy="512064"/>
            </a:xfrm>
            <a:prstGeom prst="ellipse">
              <a:avLst/>
            </a:prstGeom>
            <a:solidFill>
              <a:srgbClr val="1B2A4A"/>
            </a:solidFill>
            <a:ln/>
          </p:spPr>
        </p:sp>
        <p:sp>
          <p:nvSpPr>
            <p:cNvPr id="52" name="Text 50"/>
            <p:cNvSpPr txBox="1"/>
            <p:nvPr/>
          </p:nvSpPr>
          <p:spPr>
            <a:xfrm>
              <a:off x="9436608" y="3675888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5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10259568" y="4727448"/>
              <a:ext cx="512064" cy="512064"/>
            </a:xfrm>
            <a:prstGeom prst="ellipse">
              <a:avLst/>
            </a:prstGeom>
            <a:solidFill>
              <a:srgbClr val="1B2A4A"/>
            </a:solidFill>
            <a:ln/>
          </p:spPr>
        </p:sp>
        <p:sp>
          <p:nvSpPr>
            <p:cNvPr id="54" name="Text 52"/>
            <p:cNvSpPr txBox="1"/>
            <p:nvPr/>
          </p:nvSpPr>
          <p:spPr>
            <a:xfrm>
              <a:off x="10259568" y="4727448"/>
              <a:ext cx="512064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50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3374136" y="2596896"/>
              <a:ext cx="566928" cy="566928"/>
            </a:xfrm>
            <a:prstGeom prst="ellipse">
              <a:avLst/>
            </a:prstGeom>
            <a:solidFill>
              <a:srgbClr val="0EC9BD"/>
            </a:solidFill>
            <a:ln/>
          </p:spPr>
        </p:sp>
        <p:sp>
          <p:nvSpPr>
            <p:cNvPr id="56" name="Text 54"/>
            <p:cNvSpPr txBox="1"/>
            <p:nvPr/>
          </p:nvSpPr>
          <p:spPr>
            <a:xfrm>
              <a:off x="3374136" y="259689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1800" dirty="0"/>
            </a:p>
          </p:txBody>
        </p:sp>
        <p:sp>
          <p:nvSpPr>
            <p:cNvPr id="57" name="Text 55"/>
            <p:cNvSpPr txBox="1"/>
            <p:nvPr/>
          </p:nvSpPr>
          <p:spPr>
            <a:xfrm>
              <a:off x="3291840" y="3209544"/>
              <a:ext cx="731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(5)</a:t>
              </a:r>
              <a:endParaRPr lang="en-US" sz="105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665976" y="3648456"/>
              <a:ext cx="566928" cy="566928"/>
            </a:xfrm>
            <a:prstGeom prst="ellipse">
              <a:avLst/>
            </a:prstGeom>
            <a:solidFill>
              <a:srgbClr val="0EC9BD"/>
            </a:solidFill>
            <a:ln/>
          </p:spPr>
        </p:sp>
        <p:sp>
          <p:nvSpPr>
            <p:cNvPr id="59" name="Text 57"/>
            <p:cNvSpPr txBox="1"/>
            <p:nvPr/>
          </p:nvSpPr>
          <p:spPr>
            <a:xfrm>
              <a:off x="6665976" y="364845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</a:t>
              </a:r>
              <a:endParaRPr lang="en-US" sz="1800" dirty="0"/>
            </a:p>
          </p:txBody>
        </p:sp>
        <p:sp>
          <p:nvSpPr>
            <p:cNvPr id="60" name="Text 58"/>
            <p:cNvSpPr txBox="1"/>
            <p:nvPr/>
          </p:nvSpPr>
          <p:spPr>
            <a:xfrm>
              <a:off x="6583680" y="4261104"/>
              <a:ext cx="731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(2)</a:t>
              </a:r>
              <a:endParaRPr lang="en-US" sz="105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8311896" y="4700016"/>
              <a:ext cx="566928" cy="566928"/>
            </a:xfrm>
            <a:prstGeom prst="ellipse">
              <a:avLst/>
            </a:prstGeom>
            <a:solidFill>
              <a:srgbClr val="0EC9BD"/>
            </a:solidFill>
            <a:ln/>
          </p:spPr>
        </p:sp>
        <p:sp>
          <p:nvSpPr>
            <p:cNvPr id="62" name="Text 60"/>
            <p:cNvSpPr txBox="1"/>
            <p:nvPr/>
          </p:nvSpPr>
          <p:spPr>
            <a:xfrm>
              <a:off x="8311896" y="470001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</a:t>
              </a:r>
              <a:endParaRPr lang="en-US" sz="1800" dirty="0"/>
            </a:p>
          </p:txBody>
        </p:sp>
        <p:sp>
          <p:nvSpPr>
            <p:cNvPr id="63" name="Text 61"/>
            <p:cNvSpPr txBox="1"/>
            <p:nvPr/>
          </p:nvSpPr>
          <p:spPr>
            <a:xfrm>
              <a:off x="8229600" y="5312664"/>
              <a:ext cx="731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(2)</a:t>
              </a:r>
              <a:endParaRPr lang="en-US" sz="105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9317736" y="5751576"/>
              <a:ext cx="566928" cy="566928"/>
            </a:xfrm>
            <a:prstGeom prst="ellipse">
              <a:avLst/>
            </a:prstGeom>
            <a:solidFill>
              <a:srgbClr val="0EC9BD"/>
            </a:solidFill>
            <a:ln/>
          </p:spPr>
        </p:sp>
        <p:sp>
          <p:nvSpPr>
            <p:cNvPr id="65" name="Text 63"/>
            <p:cNvSpPr txBox="1"/>
            <p:nvPr/>
          </p:nvSpPr>
          <p:spPr>
            <a:xfrm>
              <a:off x="9317736" y="575157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800" dirty="0"/>
            </a:p>
          </p:txBody>
        </p:sp>
        <p:sp>
          <p:nvSpPr>
            <p:cNvPr id="66" name="Text 64"/>
            <p:cNvSpPr txBox="1"/>
            <p:nvPr/>
          </p:nvSpPr>
          <p:spPr>
            <a:xfrm>
              <a:off x="9235440" y="6364224"/>
              <a:ext cx="731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(1)</a:t>
              </a:r>
              <a:endParaRPr lang="en-US" sz="105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10963656" y="5751576"/>
              <a:ext cx="566928" cy="566928"/>
            </a:xfrm>
            <a:prstGeom prst="ellipse">
              <a:avLst/>
            </a:prstGeom>
            <a:solidFill>
              <a:srgbClr val="0EC9BD"/>
            </a:solidFill>
            <a:ln/>
          </p:spPr>
        </p:sp>
        <p:sp>
          <p:nvSpPr>
            <p:cNvPr id="68" name="Text 66"/>
            <p:cNvSpPr txBox="1"/>
            <p:nvPr/>
          </p:nvSpPr>
          <p:spPr>
            <a:xfrm>
              <a:off x="10963656" y="575157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</a:t>
              </a:r>
              <a:endParaRPr lang="en-US" sz="1800" dirty="0"/>
            </a:p>
          </p:txBody>
        </p:sp>
        <p:sp>
          <p:nvSpPr>
            <p:cNvPr id="69" name="Text 67"/>
            <p:cNvSpPr txBox="1"/>
            <p:nvPr/>
          </p:nvSpPr>
          <p:spPr>
            <a:xfrm>
              <a:off x="10881360" y="6364224"/>
              <a:ext cx="731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(1)</a:t>
              </a:r>
              <a:endParaRPr lang="en-US" sz="1050" dirty="0"/>
            </a:p>
          </p:txBody>
        </p:sp>
        <p:sp>
          <p:nvSpPr>
            <p:cNvPr id="71" name="Text 69"/>
            <p:cNvSpPr txBox="1"/>
            <p:nvPr/>
          </p:nvSpPr>
          <p:spPr>
            <a:xfrm>
              <a:off x="11430000" y="6547104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5B6B8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Off the Codes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byte's path from the root (left = 0, right = 1) becomes its binary code: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463040" cy="438912"/>
          </a:xfrm>
          <a:prstGeom prst="rect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03120" y="1874520"/>
            <a:ext cx="1645920" cy="438912"/>
          </a:xfrm>
          <a:prstGeom prst="rect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8745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49040" y="1874520"/>
            <a:ext cx="2286000" cy="438912"/>
          </a:xfrm>
          <a:prstGeom prst="rect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874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874520"/>
            <a:ext cx="1463040" cy="438912"/>
          </a:xfrm>
          <a:prstGeom prst="rect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8745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0" y="1874520"/>
            <a:ext cx="1737360" cy="438912"/>
          </a:xfrm>
          <a:prstGeom prst="rect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18745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313432"/>
            <a:ext cx="146304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31343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2313432"/>
            <a:ext cx="164592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03120" y="23134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2313432"/>
            <a:ext cx="228600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49040" y="231343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9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2313432"/>
            <a:ext cx="146304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231343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2313432"/>
            <a:ext cx="173736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23134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2734056"/>
            <a:ext cx="1463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273405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03120" y="2734056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03120" y="2734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49040" y="2734056"/>
            <a:ext cx="2286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49040" y="27340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9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2734056"/>
            <a:ext cx="1463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35040" y="273405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98080" y="2734056"/>
            <a:ext cx="17373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98080" y="27340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154680"/>
            <a:ext cx="146304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1546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03120" y="3154680"/>
            <a:ext cx="164592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03120" y="31546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49040" y="3154680"/>
            <a:ext cx="228600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749040" y="31546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9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035040" y="3154680"/>
            <a:ext cx="146304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35040" y="31546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98080" y="3154680"/>
            <a:ext cx="173736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98080" y="31546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0080" y="3575304"/>
            <a:ext cx="1463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35753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103120" y="3575304"/>
            <a:ext cx="16459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103120" y="357530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749040" y="3575304"/>
            <a:ext cx="22860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749040" y="35753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9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035040" y="3575304"/>
            <a:ext cx="1463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35040" y="357530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498080" y="3575304"/>
            <a:ext cx="17373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98080" y="35753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40080" y="3995928"/>
            <a:ext cx="146304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39959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103120" y="3995928"/>
            <a:ext cx="164592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103120" y="39959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749040" y="3995928"/>
            <a:ext cx="228600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749040" y="39959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9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035040" y="3995928"/>
            <a:ext cx="146304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035040" y="399592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498080" y="3995928"/>
            <a:ext cx="1737360" cy="420624"/>
          </a:xfrm>
          <a:prstGeom prst="rect">
            <a:avLst/>
          </a:prstGeom>
          <a:solidFill>
            <a:srgbClr val="F3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498080" y="399592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40080" y="470916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1B2A4A">
                <a:alpha val="25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914400" y="4983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bits</a:t>
            </a:r>
            <a:endParaRPr lang="en-US" sz="4000" dirty="0"/>
          </a:p>
        </p:txBody>
      </p:sp>
      <p:sp>
        <p:nvSpPr>
          <p:cNvPr id="67" name="Text 65"/>
          <p:cNvSpPr txBox="1"/>
          <p:nvPr/>
        </p:nvSpPr>
        <p:spPr>
          <a:xfrm>
            <a:off x="914400" y="57424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Huffman-coded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 bytes → 3 bytes)</a:t>
            </a:r>
            <a:endParaRPr lang="en-US" sz="1150" dirty="0"/>
          </a:p>
        </p:txBody>
      </p:sp>
      <p:sp>
        <p:nvSpPr>
          <p:cNvPr id="68" name="Text 66"/>
          <p:cNvSpPr txBox="1"/>
          <p:nvPr/>
        </p:nvSpPr>
        <p:spPr>
          <a:xfrm>
            <a:off x="3977640" y="5257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4663440" y="4983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bits</a:t>
            </a:r>
            <a:endParaRPr lang="en-US" sz="4000" dirty="0"/>
          </a:p>
        </p:txBody>
      </p:sp>
      <p:sp>
        <p:nvSpPr>
          <p:cNvPr id="70" name="Text 68"/>
          <p:cNvSpPr txBox="1"/>
          <p:nvPr/>
        </p:nvSpPr>
        <p:spPr>
          <a:xfrm>
            <a:off x="4663440" y="57424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ASCII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 bytes × 8 bits)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7909560" y="4937760"/>
            <a:ext cx="9144" cy="1188720"/>
          </a:xfrm>
          <a:prstGeom prst="line">
            <a:avLst/>
          </a:prstGeom>
          <a:noFill/>
          <a:ln w="12700">
            <a:solidFill>
              <a:srgbClr val="3E5A8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138160" y="5029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~74%</a:t>
            </a:r>
            <a:endParaRPr lang="en-US" sz="3400" dirty="0"/>
          </a:p>
        </p:txBody>
      </p:sp>
      <p:sp>
        <p:nvSpPr>
          <p:cNvPr id="73" name="Text 71"/>
          <p:cNvSpPr txBox="1"/>
          <p:nvPr/>
        </p:nvSpPr>
        <p:spPr>
          <a:xfrm>
            <a:off x="8138160" y="5623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bits for this example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OUR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&amp; Helper Functions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80467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6926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3385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2588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compression_project.c  —  struct Node, createNode, isLeaf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91440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#include &lt;stdio.h&gt;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#include &lt;stdlib.h&gt;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#include &lt;string.h&gt;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#define SIZE 256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struct Node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char data;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long frequency;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struct Node *left;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struct Node *right;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struct Node* createNode(unsigned char data, unsigned long frequency)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struct Node *newNode;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newNode = (struct Node*)malloc(sizeof(struct Node));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newNode-&gt;data = data;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newNode-&gt;frequency = frequency;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newNode-&gt;left = NULL;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newNode-&gt;right = NULL;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return newNode;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int isLeaf(struct Node *root)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if(root-&gt;left == NULL &amp;&amp; root-&gt;right == NULL)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 1;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return 0;</a:t>
            </a:r>
            <a:endParaRPr lang="en-US" sz="85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85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850" dirty="0"/>
          </a:p>
        </p:txBody>
      </p:sp>
      <p:sp>
        <p:nvSpPr>
          <p:cNvPr id="11" name="Shape 11"/>
          <p:cNvSpPr/>
          <p:nvPr/>
        </p:nvSpPr>
        <p:spPr>
          <a:xfrm>
            <a:off x="621792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54710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71169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findSmallest, freeTree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649224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int findSmallest(struct Node *nodes[], int count)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i;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smallest =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for(i = 1; i &lt; count; i++)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if(nodes[i]-&gt;frequency &lt; nodes[smallest]-&gt;frequency)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smallest = i;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return smallest;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void freeTree(struct Node *root)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if(root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freeTree(root-&gt;left);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freeTree(root-&gt;right);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free(root);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OUR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Tree — buildTree()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80467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6926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3385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2588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buildTree()  —  part 1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91440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struct Node* buildTree(unsigned long frequency[])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struct Node *nodes[SIZE];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count =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i;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for(i = 0; i &lt; SIZE; i++)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if(frequency[i] &gt; 0)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nodes[count] = createNode((unsigned char)i,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                  frequency[i]);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count++;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if(count == 0)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 NULL;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if(count == 1)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struct Node *parent;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parent = createNode(0, nodes[0]-&gt;frequency);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parent-&gt;left = nodes[0];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 parent;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while(count &gt; 1)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621792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54710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71169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buildTree()  —  part 2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649224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int first;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int second;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struct Node *firstNode;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struct Node *secondNode;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struct Node *newNode;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first = findSmallest(nodes, count);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firstNode = nodes[first];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nodes[first] = nodes[count - 1];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count--;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second = findSmallest(nodes, count);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secondNode = nodes[second];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newNode = createNode(0,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         firstNode-&gt;frequency +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         secondNode-&gt;frequency);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newNode-&gt;left = firstNode;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newNode-&gt;right = secondNode;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nodes[second] = nodes[count - 1];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count--;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nodes[count] = newNode;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count++;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return nodes[0];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OUR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the Codes — generateCodes()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600200"/>
            <a:ext cx="576072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80467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6926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3385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25880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generateCodes()  —  recursive tree walk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914400" y="2020824"/>
            <a:ext cx="521208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void generateCodes(struct Node *root,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char code[],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int position,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char codes[SIZE][SIZE])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if(root == NULL)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if(isLeaf(root))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code[position] = '\0';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strcpy(codes[root-&gt;data], code);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code[position] = '0';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generateCodes(root-&gt;left,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code,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position + 1,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codes);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code[position] = '1';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generateCodes(root-&gt;right,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code,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position + 1,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codes);</a:t>
            </a:r>
            <a:endParaRPr lang="en-US" sz="10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0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6675120" y="1600200"/>
            <a:ext cx="4846320" cy="1463040"/>
          </a:xfrm>
          <a:prstGeom prst="roundRect">
            <a:avLst>
              <a:gd name="adj" fmla="val 5926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903720" y="1783080"/>
            <a:ext cx="4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0A9C93"/>
                </a:solidFill>
                <a:latin typeface="Courier New"/>
                <a:ea typeface="Courier New"/>
                <a:cs typeface="Courier New"/>
              </a:rPr>
              <a:t>Recursion</a:t>
            </a:r>
            <a:endParaRPr lang="en-US" sz="1300" dirty="0"/>
          </a:p>
        </p:txBody>
      </p:sp>
      <p:sp>
        <p:nvSpPr>
          <p:cNvPr id="13" name="Text 13"/>
          <p:cNvSpPr txBox="1"/>
          <p:nvPr/>
        </p:nvSpPr>
        <p:spPr>
          <a:xfrm>
            <a:off x="6903720" y="2194560"/>
            <a:ext cx="44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The function calls itself on the left child, then the right child — like walking down every branch of the tree.</a:t>
            </a:r>
            <a:endParaRPr lang="en-US" sz="1050" dirty="0"/>
          </a:p>
        </p:txBody>
      </p:sp>
      <p:sp>
        <p:nvSpPr>
          <p:cNvPr id="14" name="Shape 14"/>
          <p:cNvSpPr/>
          <p:nvPr/>
        </p:nvSpPr>
        <p:spPr>
          <a:xfrm>
            <a:off x="6675120" y="3246120"/>
            <a:ext cx="4846320" cy="1463040"/>
          </a:xfrm>
          <a:prstGeom prst="roundRect">
            <a:avLst>
              <a:gd name="adj" fmla="val 5926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3429000"/>
            <a:ext cx="4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0A9C93"/>
                </a:solidFill>
                <a:latin typeface="Courier New"/>
                <a:ea typeface="Courier New"/>
                <a:cs typeface="Courier New"/>
              </a:rPr>
              <a:t>'0' left, '1' right</a:t>
            </a:r>
            <a:endParaRPr lang="en-US" sz="1300" dirty="0"/>
          </a:p>
        </p:txBody>
      </p:sp>
      <p:sp>
        <p:nvSpPr>
          <p:cNvPr id="16" name="Text 16"/>
          <p:cNvSpPr txBox="1"/>
          <p:nvPr/>
        </p:nvSpPr>
        <p:spPr>
          <a:xfrm>
            <a:off x="6903720" y="3840480"/>
            <a:ext cx="44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Each step down adds one character to code[], so at a leaf the path so far is that byte's code.</a:t>
            </a:r>
            <a:endParaRPr lang="en-US" sz="1050" dirty="0"/>
          </a:p>
        </p:txBody>
      </p:sp>
      <p:sp>
        <p:nvSpPr>
          <p:cNvPr id="17" name="Shape 17"/>
          <p:cNvSpPr/>
          <p:nvPr/>
        </p:nvSpPr>
        <p:spPr>
          <a:xfrm>
            <a:off x="6675120" y="4892040"/>
            <a:ext cx="4846320" cy="1463040"/>
          </a:xfrm>
          <a:prstGeom prst="roundRect">
            <a:avLst>
              <a:gd name="adj" fmla="val 5926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903720" y="5074920"/>
            <a:ext cx="4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0" dirty="0">
                <a:solidFill>
                  <a:srgbClr val="0A9C93"/>
                </a:solidFill>
                <a:latin typeface="Courier New"/>
                <a:ea typeface="Courier New"/>
                <a:cs typeface="Courier New"/>
              </a:rPr>
              <a:t>strcpy at a leaf</a:t>
            </a:r>
            <a:endParaRPr lang="en-US" sz="1300" dirty="0"/>
          </a:p>
        </p:txBody>
      </p:sp>
      <p:sp>
        <p:nvSpPr>
          <p:cNvPr id="19" name="Text 19"/>
          <p:cNvSpPr txBox="1"/>
          <p:nvPr/>
        </p:nvSpPr>
        <p:spPr>
          <a:xfrm>
            <a:off x="6903720" y="5486400"/>
            <a:ext cx="44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0" i="0" dirty="0">
                <a:solidFill>
                  <a:srgbClr val="5B6B82"/>
                </a:solidFill>
                <a:latin typeface="Calibri"/>
                <a:ea typeface="Calibri"/>
                <a:cs typeface="Calibri"/>
              </a:rPr>
              <a:t>codes[root-&gt;data] gets the finished code, for example codes['A'] = "0".</a:t>
            </a:r>
            <a:endParaRPr lang="en-US" sz="105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It?</a:t>
            </a:r>
            <a:endParaRPr lang="en-US" sz="3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AD6D56-B6B0-B29D-14DD-0D449419956E}"/>
              </a:ext>
            </a:extLst>
          </p:cNvPr>
          <p:cNvGrpSpPr/>
          <p:nvPr/>
        </p:nvGrpSpPr>
        <p:grpSpPr>
          <a:xfrm>
            <a:off x="640080" y="1707000"/>
            <a:ext cx="10881360" cy="4136016"/>
            <a:chOff x="640080" y="1707000"/>
            <a:chExt cx="9326000" cy="2828000"/>
          </a:xfrm>
        </p:grpSpPr>
        <p:sp>
          <p:nvSpPr>
            <p:cNvPr id="5" name="Shape 5"/>
            <p:cNvSpPr/>
            <p:nvPr/>
          </p:nvSpPr>
          <p:spPr>
            <a:xfrm>
              <a:off x="640080" y="1707000"/>
              <a:ext cx="9326000" cy="4040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</p:spPr>
        </p:sp>
        <p:sp>
          <p:nvSpPr>
            <p:cNvPr id="6" name="Text 6"/>
            <p:cNvSpPr txBox="1"/>
            <p:nvPr/>
          </p:nvSpPr>
          <p:spPr>
            <a:xfrm>
              <a:off x="731520" y="1707000"/>
              <a:ext cx="6675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Step</a:t>
              </a:r>
              <a:endParaRPr lang="en-US" dirty="0"/>
            </a:p>
          </p:txBody>
        </p:sp>
        <p:sp>
          <p:nvSpPr>
            <p:cNvPr id="7" name="Text 7"/>
            <p:cNvSpPr txBox="1"/>
            <p:nvPr/>
          </p:nvSpPr>
          <p:spPr>
            <a:xfrm>
              <a:off x="7315080" y="1707000"/>
              <a:ext cx="2651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i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Time</a:t>
              </a:r>
              <a:endParaRPr lang="en-US" dirty="0"/>
            </a:p>
          </p:txBody>
        </p:sp>
        <p:sp>
          <p:nvSpPr>
            <p:cNvPr id="8" name="Shape 8"/>
            <p:cNvSpPr/>
            <p:nvPr/>
          </p:nvSpPr>
          <p:spPr>
            <a:xfrm>
              <a:off x="640080" y="2111000"/>
              <a:ext cx="9326000" cy="404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D6E0EE"/>
              </a:solidFill>
            </a:ln>
          </p:spPr>
        </p:sp>
        <p:sp>
          <p:nvSpPr>
            <p:cNvPr id="9" name="Text 9"/>
            <p:cNvSpPr txBox="1"/>
            <p:nvPr/>
          </p:nvSpPr>
          <p:spPr>
            <a:xfrm>
              <a:off x="731520" y="2111000"/>
              <a:ext cx="6675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0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Count how often each byte appears</a:t>
              </a:r>
              <a:endParaRPr lang="en-US" sz="1600" dirty="0"/>
            </a:p>
          </p:txBody>
        </p:sp>
        <p:sp>
          <p:nvSpPr>
            <p:cNvPr id="10" name="Text 10"/>
            <p:cNvSpPr txBox="1"/>
            <p:nvPr/>
          </p:nvSpPr>
          <p:spPr>
            <a:xfrm>
              <a:off x="7315080" y="2111000"/>
              <a:ext cx="2651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0" i="0" dirty="0">
                  <a:solidFill>
                    <a:srgbClr val="0A9C93"/>
                  </a:solidFill>
                  <a:latin typeface="Courier New"/>
                  <a:ea typeface="Courier New"/>
                  <a:cs typeface="Courier New"/>
                </a:rPr>
                <a:t>O(n)</a:t>
              </a:r>
              <a:endParaRPr lang="en-US" sz="1600" dirty="0"/>
            </a:p>
          </p:txBody>
        </p:sp>
        <p:sp>
          <p:nvSpPr>
            <p:cNvPr id="11" name="Shape 11"/>
            <p:cNvSpPr/>
            <p:nvPr/>
          </p:nvSpPr>
          <p:spPr>
            <a:xfrm>
              <a:off x="640080" y="2515000"/>
              <a:ext cx="9326000" cy="404000"/>
            </a:xfrm>
            <a:prstGeom prst="rect">
              <a:avLst/>
            </a:prstGeom>
            <a:solidFill>
              <a:srgbClr val="F3F7FB"/>
            </a:solidFill>
            <a:ln w="15875">
              <a:solidFill>
                <a:srgbClr val="D6E0EE"/>
              </a:solidFill>
            </a:ln>
          </p:spPr>
        </p:sp>
        <p:sp>
          <p:nvSpPr>
            <p:cNvPr id="12" name="Text 12"/>
            <p:cNvSpPr txBox="1"/>
            <p:nvPr/>
          </p:nvSpPr>
          <p:spPr>
            <a:xfrm>
              <a:off x="731520" y="2515000"/>
              <a:ext cx="6675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0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Build the tree (scan for the smallest, repeatedly)</a:t>
              </a:r>
              <a:endParaRPr lang="en-US" sz="1600" dirty="0"/>
            </a:p>
          </p:txBody>
        </p:sp>
        <p:sp>
          <p:nvSpPr>
            <p:cNvPr id="13" name="Text 13"/>
            <p:cNvSpPr txBox="1"/>
            <p:nvPr/>
          </p:nvSpPr>
          <p:spPr>
            <a:xfrm>
              <a:off x="7315080" y="2515000"/>
              <a:ext cx="2651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0" i="0" dirty="0">
                  <a:solidFill>
                    <a:srgbClr val="0A9C93"/>
                  </a:solidFill>
                  <a:latin typeface="Courier New"/>
                  <a:ea typeface="Courier New"/>
                  <a:cs typeface="Courier New"/>
                </a:rPr>
                <a:t>O(k²)</a:t>
              </a:r>
              <a:endParaRPr lang="en-US" sz="1600" dirty="0"/>
            </a:p>
          </p:txBody>
        </p:sp>
        <p:sp>
          <p:nvSpPr>
            <p:cNvPr id="14" name="Shape 14"/>
            <p:cNvSpPr/>
            <p:nvPr/>
          </p:nvSpPr>
          <p:spPr>
            <a:xfrm>
              <a:off x="640080" y="2919000"/>
              <a:ext cx="9326000" cy="404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D6E0EE"/>
              </a:solidFill>
            </a:ln>
          </p:spPr>
        </p:sp>
        <p:sp>
          <p:nvSpPr>
            <p:cNvPr id="15" name="Text 15"/>
            <p:cNvSpPr txBox="1"/>
            <p:nvPr/>
          </p:nvSpPr>
          <p:spPr>
            <a:xfrm>
              <a:off x="731520" y="2919000"/>
              <a:ext cx="6675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0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Generate the codes</a:t>
              </a:r>
              <a:endParaRPr lang="en-US" sz="1600" dirty="0"/>
            </a:p>
          </p:txBody>
        </p:sp>
        <p:sp>
          <p:nvSpPr>
            <p:cNvPr id="16" name="Text 16"/>
            <p:cNvSpPr txBox="1"/>
            <p:nvPr/>
          </p:nvSpPr>
          <p:spPr>
            <a:xfrm>
              <a:off x="7315080" y="2919000"/>
              <a:ext cx="2651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0" i="0" dirty="0">
                  <a:solidFill>
                    <a:srgbClr val="0A9C93"/>
                  </a:solidFill>
                  <a:latin typeface="Courier New"/>
                  <a:ea typeface="Courier New"/>
                  <a:cs typeface="Courier New"/>
                </a:rPr>
                <a:t>O(k)</a:t>
              </a:r>
              <a:endParaRPr lang="en-US" sz="1600" dirty="0"/>
            </a:p>
          </p:txBody>
        </p:sp>
        <p:sp>
          <p:nvSpPr>
            <p:cNvPr id="17" name="Shape 17"/>
            <p:cNvSpPr/>
            <p:nvPr/>
          </p:nvSpPr>
          <p:spPr>
            <a:xfrm>
              <a:off x="640080" y="3323000"/>
              <a:ext cx="9326000" cy="404000"/>
            </a:xfrm>
            <a:prstGeom prst="rect">
              <a:avLst/>
            </a:prstGeom>
            <a:solidFill>
              <a:srgbClr val="F3F7FB"/>
            </a:solidFill>
            <a:ln w="15875">
              <a:solidFill>
                <a:srgbClr val="D6E0EE"/>
              </a:solidFill>
            </a:ln>
          </p:spPr>
        </p:sp>
        <p:sp>
          <p:nvSpPr>
            <p:cNvPr id="18" name="Text 18"/>
            <p:cNvSpPr txBox="1"/>
            <p:nvPr/>
          </p:nvSpPr>
          <p:spPr>
            <a:xfrm>
              <a:off x="731520" y="3323000"/>
              <a:ext cx="6675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0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Compress (write the bits)</a:t>
              </a:r>
              <a:endParaRPr lang="en-US" sz="1600" dirty="0"/>
            </a:p>
          </p:txBody>
        </p:sp>
        <p:sp>
          <p:nvSpPr>
            <p:cNvPr id="19" name="Text 19"/>
            <p:cNvSpPr txBox="1"/>
            <p:nvPr/>
          </p:nvSpPr>
          <p:spPr>
            <a:xfrm>
              <a:off x="7315080" y="3323000"/>
              <a:ext cx="2651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0" i="0" dirty="0">
                  <a:solidFill>
                    <a:srgbClr val="0A9C93"/>
                  </a:solidFill>
                  <a:latin typeface="Courier New"/>
                  <a:ea typeface="Courier New"/>
                  <a:cs typeface="Courier New"/>
                </a:rPr>
                <a:t>O(n)</a:t>
              </a:r>
              <a:endParaRPr lang="en-US" sz="1600" dirty="0"/>
            </a:p>
          </p:txBody>
        </p:sp>
        <p:sp>
          <p:nvSpPr>
            <p:cNvPr id="20" name="Shape 20"/>
            <p:cNvSpPr/>
            <p:nvPr/>
          </p:nvSpPr>
          <p:spPr>
            <a:xfrm>
              <a:off x="640080" y="3727000"/>
              <a:ext cx="9326000" cy="404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D6E0EE"/>
              </a:solidFill>
            </a:ln>
          </p:spPr>
        </p:sp>
        <p:sp>
          <p:nvSpPr>
            <p:cNvPr id="21" name="Text 21"/>
            <p:cNvSpPr txBox="1"/>
            <p:nvPr/>
          </p:nvSpPr>
          <p:spPr>
            <a:xfrm>
              <a:off x="731520" y="3727000"/>
              <a:ext cx="6675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0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Decompress (read the bits)</a:t>
              </a:r>
              <a:endParaRPr lang="en-US" sz="1600" dirty="0"/>
            </a:p>
          </p:txBody>
        </p:sp>
        <p:sp>
          <p:nvSpPr>
            <p:cNvPr id="22" name="Text 22"/>
            <p:cNvSpPr txBox="1"/>
            <p:nvPr/>
          </p:nvSpPr>
          <p:spPr>
            <a:xfrm>
              <a:off x="7315080" y="3727000"/>
              <a:ext cx="2651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0" i="0" dirty="0">
                  <a:solidFill>
                    <a:srgbClr val="0A9C93"/>
                  </a:solidFill>
                  <a:latin typeface="Courier New"/>
                  <a:ea typeface="Courier New"/>
                  <a:cs typeface="Courier New"/>
                </a:rPr>
                <a:t>O(n)</a:t>
              </a:r>
              <a:endParaRPr lang="en-US" sz="1600" dirty="0"/>
            </a:p>
          </p:txBody>
        </p:sp>
        <p:sp>
          <p:nvSpPr>
            <p:cNvPr id="23" name="Shape 23"/>
            <p:cNvSpPr/>
            <p:nvPr/>
          </p:nvSpPr>
          <p:spPr>
            <a:xfrm>
              <a:off x="640080" y="4131000"/>
              <a:ext cx="9326000" cy="404000"/>
            </a:xfrm>
            <a:prstGeom prst="rect">
              <a:avLst/>
            </a:prstGeom>
            <a:solidFill>
              <a:srgbClr val="DCE6F4"/>
            </a:solidFill>
            <a:ln w="15875">
              <a:solidFill>
                <a:srgbClr val="D6E0EE"/>
              </a:solidFill>
            </a:ln>
          </p:spPr>
        </p:sp>
        <p:sp>
          <p:nvSpPr>
            <p:cNvPr id="24" name="Text 24"/>
            <p:cNvSpPr txBox="1"/>
            <p:nvPr/>
          </p:nvSpPr>
          <p:spPr>
            <a:xfrm>
              <a:off x="731520" y="4131000"/>
              <a:ext cx="6675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i="0" dirty="0">
                  <a:solidFill>
                    <a:srgbClr val="1B2A4A"/>
                  </a:solidFill>
                  <a:latin typeface="Calibri"/>
                  <a:ea typeface="Calibri"/>
                  <a:cs typeface="Calibri"/>
                </a:rPr>
                <a:t>Overall</a:t>
              </a:r>
              <a:endParaRPr lang="en-US" sz="1600" dirty="0"/>
            </a:p>
          </p:txBody>
        </p:sp>
        <p:sp>
          <p:nvSpPr>
            <p:cNvPr id="25" name="Text 25"/>
            <p:cNvSpPr txBox="1"/>
            <p:nvPr/>
          </p:nvSpPr>
          <p:spPr>
            <a:xfrm>
              <a:off x="7315080" y="4131000"/>
              <a:ext cx="2651000" cy="40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i="0" dirty="0">
                  <a:solidFill>
                    <a:srgbClr val="1B2A4A"/>
                  </a:solidFill>
                  <a:latin typeface="Courier New"/>
                  <a:ea typeface="Courier New"/>
                  <a:cs typeface="Courier New"/>
                </a:rPr>
                <a:t>O(n + k²) ≈ O(n)</a:t>
              </a:r>
              <a:endParaRPr lang="en-US" sz="1600" dirty="0"/>
            </a:p>
          </p:txBody>
        </p:sp>
      </p:grp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14D4C20-7E14-54A4-2EDE-73084EAF96BD}"/>
              </a:ext>
            </a:extLst>
          </p:cNvPr>
          <p:cNvGrpSpPr/>
          <p:nvPr/>
        </p:nvGrpSpPr>
        <p:grpSpPr>
          <a:xfrm>
            <a:off x="502920" y="232223"/>
            <a:ext cx="10332720" cy="753776"/>
            <a:chOff x="640080" y="457200"/>
            <a:chExt cx="10881360" cy="1024128"/>
          </a:xfrm>
        </p:grpSpPr>
        <p:sp>
          <p:nvSpPr>
            <p:cNvPr id="2" name="Text 0"/>
            <p:cNvSpPr txBox="1"/>
            <p:nvPr/>
          </p:nvSpPr>
          <p:spPr>
            <a:xfrm>
              <a:off x="640080" y="457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kern="0" spc="300" dirty="0">
                  <a:solidFill>
                    <a:srgbClr val="0A9C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06 · LIVE DEMO</a:t>
              </a:r>
              <a:endParaRPr lang="en-US" sz="1400" dirty="0"/>
            </a:p>
          </p:txBody>
        </p:sp>
        <p:sp>
          <p:nvSpPr>
            <p:cNvPr id="3" name="Text 1"/>
            <p:cNvSpPr txBox="1"/>
            <p:nvPr/>
          </p:nvSpPr>
          <p:spPr>
            <a:xfrm>
              <a:off x="640080" y="749808"/>
              <a:ext cx="108813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Demonstration</a:t>
              </a:r>
              <a:endParaRPr lang="en-US" sz="4400" dirty="0"/>
            </a:p>
          </p:txBody>
        </p:sp>
      </p:grpSp>
      <p:sp>
        <p:nvSpPr>
          <p:cNvPr id="7" name="Text 7"/>
          <p:cNvSpPr txBox="1"/>
          <p:nvPr/>
        </p:nvSpPr>
        <p:spPr>
          <a:xfrm>
            <a:off x="5779698" y="5398496"/>
            <a:ext cx="5741742" cy="34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1.  Run the program — main menu</a:t>
            </a:r>
            <a:endParaRPr lang="en-US" sz="1400" dirty="0"/>
          </a:p>
        </p:txBody>
      </p:sp>
      <p:sp>
        <p:nvSpPr>
          <p:cNvPr id="10" name="Text 10"/>
          <p:cNvSpPr txBox="1"/>
          <p:nvPr/>
        </p:nvSpPr>
        <p:spPr>
          <a:xfrm>
            <a:off x="5779698" y="5769218"/>
            <a:ext cx="53035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2.  Compress — file path, save folder, sizes and space saved</a:t>
            </a:r>
            <a:endParaRPr lang="en-US" sz="1400" dirty="0"/>
          </a:p>
        </p:txBody>
      </p:sp>
      <p:sp>
        <p:nvSpPr>
          <p:cNvPr id="13" name="Text 13"/>
          <p:cNvSpPr txBox="1"/>
          <p:nvPr/>
        </p:nvSpPr>
        <p:spPr>
          <a:xfrm>
            <a:off x="640080" y="5943600"/>
            <a:ext cx="53035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3.  Decompress — .huf file, output name, restored size</a:t>
            </a:r>
            <a:endParaRPr lang="en-US" sz="10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5A59706-1677-DEB3-3BA0-49CF09CB5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63" y="1370883"/>
            <a:ext cx="4041717" cy="3893671"/>
          </a:xfrm>
          <a:prstGeom prst="rect">
            <a:avLst/>
          </a:prstGeom>
          <a:ln w="190500" cap="sq">
            <a:solidFill>
              <a:srgbClr val="00206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EBB522B-041B-D018-22E0-768A63E86268}"/>
              </a:ext>
            </a:extLst>
          </p:cNvPr>
          <p:cNvSpPr txBox="1"/>
          <p:nvPr/>
        </p:nvSpPr>
        <p:spPr>
          <a:xfrm>
            <a:off x="1134924" y="5464071"/>
            <a:ext cx="1915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Demo File to Compress</a:t>
            </a:r>
            <a:endParaRPr lang="en-IN" sz="14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0A490E3-1A09-277C-5B7E-0B18DE415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673" y="1329502"/>
            <a:ext cx="6772364" cy="3935051"/>
          </a:xfrm>
          <a:prstGeom prst="rect">
            <a:avLst/>
          </a:prstGeom>
          <a:ln w="190500" cap="sq">
            <a:solidFill>
              <a:srgbClr val="00206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61586FB4-8AEA-7BEF-2737-34E842DAA449}"/>
              </a:ext>
            </a:extLst>
          </p:cNvPr>
          <p:cNvSpPr/>
          <p:nvPr/>
        </p:nvSpPr>
        <p:spPr>
          <a:xfrm>
            <a:off x="4441691" y="3098619"/>
            <a:ext cx="577970" cy="396815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ED75C1-27D0-136D-33F3-E1034461CD14}"/>
              </a:ext>
            </a:extLst>
          </p:cNvPr>
          <p:cNvGrpSpPr/>
          <p:nvPr/>
        </p:nvGrpSpPr>
        <p:grpSpPr>
          <a:xfrm>
            <a:off x="502920" y="232223"/>
            <a:ext cx="10332720" cy="753776"/>
            <a:chOff x="640080" y="457200"/>
            <a:chExt cx="10881360" cy="1024128"/>
          </a:xfrm>
        </p:grpSpPr>
        <p:sp>
          <p:nvSpPr>
            <p:cNvPr id="3" name="Text 0">
              <a:extLst>
                <a:ext uri="{FF2B5EF4-FFF2-40B4-BE49-F238E27FC236}">
                  <a16:creationId xmlns:a16="http://schemas.microsoft.com/office/drawing/2014/main" id="{8BFE4BC2-42B4-3A4F-1742-D1A31F61788F}"/>
                </a:ext>
              </a:extLst>
            </p:cNvPr>
            <p:cNvSpPr txBox="1"/>
            <p:nvPr/>
          </p:nvSpPr>
          <p:spPr>
            <a:xfrm>
              <a:off x="640080" y="4572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kern="0" spc="300" dirty="0">
                  <a:solidFill>
                    <a:srgbClr val="0A9C9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06 · LIVE DEMO</a:t>
              </a:r>
              <a:endParaRPr lang="en-US" sz="1400" dirty="0"/>
            </a:p>
          </p:txBody>
        </p:sp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894CAB6B-0BC2-FB39-E63F-9455D62EA9BD}"/>
                </a:ext>
              </a:extLst>
            </p:cNvPr>
            <p:cNvSpPr txBox="1"/>
            <p:nvPr/>
          </p:nvSpPr>
          <p:spPr>
            <a:xfrm>
              <a:off x="640080" y="749808"/>
              <a:ext cx="108813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400" b="1" dirty="0">
                  <a:solidFill>
                    <a:srgbClr val="1B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Demonstration</a:t>
              </a:r>
              <a:endParaRPr lang="en-US" sz="4400" dirty="0"/>
            </a:p>
          </p:txBody>
        </p:sp>
      </p:grpSp>
      <p:sp>
        <p:nvSpPr>
          <p:cNvPr id="6" name="Text 13">
            <a:extLst>
              <a:ext uri="{FF2B5EF4-FFF2-40B4-BE49-F238E27FC236}">
                <a16:creationId xmlns:a16="http://schemas.microsoft.com/office/drawing/2014/main" id="{062879BE-2EF5-0CC8-9732-80B946F30D28}"/>
              </a:ext>
            </a:extLst>
          </p:cNvPr>
          <p:cNvSpPr txBox="1"/>
          <p:nvPr/>
        </p:nvSpPr>
        <p:spPr>
          <a:xfrm>
            <a:off x="6238623" y="5923759"/>
            <a:ext cx="53035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3.  Decompress — .huf file, output name, restored size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A4524-924E-C9A8-291C-438A3243D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51" y="1177531"/>
            <a:ext cx="3907766" cy="4502938"/>
          </a:xfrm>
          <a:prstGeom prst="rect">
            <a:avLst/>
          </a:prstGeom>
          <a:ln w="190500" cap="sq">
            <a:solidFill>
              <a:srgbClr val="00206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6294CA-0E32-FA3F-A465-E2FC6FDF5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012" y="1177531"/>
            <a:ext cx="7211098" cy="4502938"/>
          </a:xfrm>
          <a:prstGeom prst="rect">
            <a:avLst/>
          </a:prstGeom>
          <a:ln w="190500" cap="sq">
            <a:solidFill>
              <a:srgbClr val="002060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2" name="Text 13">
            <a:extLst>
              <a:ext uri="{FF2B5EF4-FFF2-40B4-BE49-F238E27FC236}">
                <a16:creationId xmlns:a16="http://schemas.microsoft.com/office/drawing/2014/main" id="{F2388734-E378-855F-94D1-F7903876782E}"/>
              </a:ext>
            </a:extLst>
          </p:cNvPr>
          <p:cNvSpPr txBox="1"/>
          <p:nvPr/>
        </p:nvSpPr>
        <p:spPr>
          <a:xfrm>
            <a:off x="1210575" y="5923759"/>
            <a:ext cx="226587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/>
              <a:t>File after Decompression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2CB6E4C-D104-EA34-4563-1BBBDD1EA969}"/>
              </a:ext>
            </a:extLst>
          </p:cNvPr>
          <p:cNvSpPr/>
          <p:nvPr/>
        </p:nvSpPr>
        <p:spPr>
          <a:xfrm>
            <a:off x="4330460" y="3183147"/>
            <a:ext cx="483080" cy="431321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331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Limitations &amp; What We'd Improve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783080"/>
            <a:ext cx="3505200" cy="4420000"/>
          </a:xfrm>
          <a:prstGeom prst="roundRect">
            <a:avLst>
              <a:gd name="adj" fmla="val 2500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640080" y="1783080"/>
            <a:ext cx="3505200" cy="594360"/>
          </a:xfrm>
          <a:prstGeom prst="roundRect">
            <a:avLst>
              <a:gd name="adj" fmla="val 9000"/>
            </a:avLst>
          </a:prstGeom>
          <a:solidFill>
            <a:srgbClr val="0EC9BD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640080" y="178308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Strengths</a:t>
            </a:r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914400" y="2676144"/>
            <a:ext cx="73152" cy="73152"/>
          </a:xfrm>
          <a:prstGeom prst="ellipse">
            <a:avLst/>
          </a:prstGeom>
          <a:solidFill>
            <a:srgbClr val="0EC9BD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097280" y="2382720"/>
            <a:ext cx="29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Lossless — the exact file comes back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914400" y="3544824"/>
            <a:ext cx="73152" cy="73152"/>
          </a:xfrm>
          <a:prstGeom prst="ellipse">
            <a:avLst/>
          </a:prstGeom>
          <a:solidFill>
            <a:srgbClr val="0EC9BD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97280" y="3251400"/>
            <a:ext cx="29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Works on any type of file</a:t>
            </a:r>
            <a:endParaRPr lang="en-US" sz="1400" dirty="0"/>
          </a:p>
        </p:txBody>
      </p:sp>
      <p:sp>
        <p:nvSpPr>
          <p:cNvPr id="12" name="Shape 12"/>
          <p:cNvSpPr/>
          <p:nvPr/>
        </p:nvSpPr>
        <p:spPr>
          <a:xfrm>
            <a:off x="914400" y="4413504"/>
            <a:ext cx="73152" cy="73152"/>
          </a:xfrm>
          <a:prstGeom prst="ellipse">
            <a:avLst/>
          </a:prstGeom>
          <a:solidFill>
            <a:srgbClr val="0EC9B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97280" y="4120080"/>
            <a:ext cx="29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Time grows in a straight line with file size</a:t>
            </a:r>
            <a:endParaRPr lang="en-US" sz="1400" dirty="0"/>
          </a:p>
        </p:txBody>
      </p:sp>
      <p:sp>
        <p:nvSpPr>
          <p:cNvPr id="14" name="Shape 14"/>
          <p:cNvSpPr/>
          <p:nvPr/>
        </p:nvSpPr>
        <p:spPr>
          <a:xfrm>
            <a:off x="914400" y="5282184"/>
            <a:ext cx="73152" cy="73152"/>
          </a:xfrm>
          <a:prstGeom prst="ellipse">
            <a:avLst/>
          </a:prstGeom>
          <a:solidFill>
            <a:srgbClr val="0EC9B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97280" y="4988760"/>
            <a:ext cx="29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Same idea used inside ZIP, PNG and JPEG</a:t>
            </a:r>
            <a:endParaRPr lang="en-US" sz="1400" dirty="0"/>
          </a:p>
        </p:txBody>
      </p:sp>
      <p:sp>
        <p:nvSpPr>
          <p:cNvPr id="16" name="Shape 16"/>
          <p:cNvSpPr/>
          <p:nvPr/>
        </p:nvSpPr>
        <p:spPr>
          <a:xfrm>
            <a:off x="4328160" y="1783080"/>
            <a:ext cx="3505200" cy="4420000"/>
          </a:xfrm>
          <a:prstGeom prst="roundRect">
            <a:avLst>
              <a:gd name="adj" fmla="val 2500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4328160" y="1783080"/>
            <a:ext cx="3505200" cy="594360"/>
          </a:xfrm>
          <a:prstGeom prst="roundRect">
            <a:avLst>
              <a:gd name="adj" fmla="val 9000"/>
            </a:avLst>
          </a:prstGeom>
          <a:solidFill>
            <a:srgbClr val="E0A458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328160" y="178308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</a:t>
            </a:r>
            <a:endParaRPr lang="en-US" dirty="0"/>
          </a:p>
        </p:txBody>
      </p:sp>
      <p:sp>
        <p:nvSpPr>
          <p:cNvPr id="19" name="Shape 19"/>
          <p:cNvSpPr/>
          <p:nvPr/>
        </p:nvSpPr>
        <p:spPr>
          <a:xfrm>
            <a:off x="4602480" y="2676144"/>
            <a:ext cx="73152" cy="73152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4785360" y="2382720"/>
            <a:ext cx="29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Stores 256 counters (~1 KB), so tiny files grow</a:t>
            </a:r>
            <a:endParaRPr lang="en-US" sz="1400" dirty="0"/>
          </a:p>
        </p:txBody>
      </p:sp>
      <p:sp>
        <p:nvSpPr>
          <p:cNvPr id="21" name="Shape 21"/>
          <p:cNvSpPr/>
          <p:nvPr/>
        </p:nvSpPr>
        <p:spPr>
          <a:xfrm>
            <a:off x="4602480" y="3544824"/>
            <a:ext cx="73152" cy="73152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785360" y="3251400"/>
            <a:ext cx="29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Little gain on already-compressed files (JPG, ZIP, DOCX)</a:t>
            </a:r>
            <a:endParaRPr lang="en-US" sz="1400" dirty="0"/>
          </a:p>
        </p:txBody>
      </p:sp>
      <p:sp>
        <p:nvSpPr>
          <p:cNvPr id="23" name="Shape 23"/>
          <p:cNvSpPr/>
          <p:nvPr/>
        </p:nvSpPr>
        <p:spPr>
          <a:xfrm>
            <a:off x="4602480" y="4413504"/>
            <a:ext cx="73152" cy="73152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4785360" y="4120080"/>
            <a:ext cx="29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Decompress doesn't check the file is really a .huf</a:t>
            </a:r>
            <a:endParaRPr lang="en-US" sz="1400" dirty="0"/>
          </a:p>
        </p:txBody>
      </p:sp>
      <p:sp>
        <p:nvSpPr>
          <p:cNvPr id="25" name="Shape 25"/>
          <p:cNvSpPr/>
          <p:nvPr/>
        </p:nvSpPr>
        <p:spPr>
          <a:xfrm>
            <a:off x="8016240" y="1783080"/>
            <a:ext cx="3505200" cy="4420000"/>
          </a:xfrm>
          <a:prstGeom prst="roundRect">
            <a:avLst>
              <a:gd name="adj" fmla="val 2500"/>
            </a:avLst>
          </a:prstGeom>
          <a:solidFill>
            <a:srgbClr val="F3F7FB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8016240" y="1783080"/>
            <a:ext cx="3505200" cy="594360"/>
          </a:xfrm>
          <a:prstGeom prst="roundRect">
            <a:avLst>
              <a:gd name="adj" fmla="val 9000"/>
            </a:avLst>
          </a:prstGeom>
          <a:solidFill>
            <a:srgbClr val="1B2A4A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8016240" y="1783080"/>
            <a:ext cx="350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We'd Improve</a:t>
            </a:r>
            <a:endParaRPr lang="en-US" dirty="0"/>
          </a:p>
        </p:txBody>
      </p:sp>
      <p:sp>
        <p:nvSpPr>
          <p:cNvPr id="30" name="Shape 30"/>
          <p:cNvSpPr/>
          <p:nvPr/>
        </p:nvSpPr>
        <p:spPr>
          <a:xfrm>
            <a:off x="8290560" y="2949604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473440" y="2749296"/>
            <a:ext cx="29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Store only the counters that are used (smaller header)</a:t>
            </a:r>
            <a:endParaRPr lang="en-US" sz="1400" dirty="0"/>
          </a:p>
        </p:txBody>
      </p:sp>
      <p:sp>
        <p:nvSpPr>
          <p:cNvPr id="32" name="Shape 32"/>
          <p:cNvSpPr/>
          <p:nvPr/>
        </p:nvSpPr>
        <p:spPr>
          <a:xfrm>
            <a:off x="8290560" y="3964930"/>
            <a:ext cx="73152" cy="73152"/>
          </a:xfrm>
          <a:prstGeom prst="ellipse">
            <a:avLst/>
          </a:prstGeom>
          <a:solidFill>
            <a:srgbClr val="1B2A4A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8473440" y="3753504"/>
            <a:ext cx="29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0" i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Reject wrong files with a friendly message</a:t>
            </a:r>
            <a:endParaRPr lang="en-US" sz="14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4121F-12F9-FDFD-A9BE-C9BB610669AD}"/>
              </a:ext>
            </a:extLst>
          </p:cNvPr>
          <p:cNvSpPr txBox="1"/>
          <p:nvPr/>
        </p:nvSpPr>
        <p:spPr>
          <a:xfrm>
            <a:off x="8473440" y="4988760"/>
            <a:ext cx="2697768" cy="773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1280160" y="1371600"/>
            <a:ext cx="914400" cy="73152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0" y="1371600"/>
            <a:ext cx="914400" cy="73152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40080" y="2103120"/>
            <a:ext cx="640080" cy="54864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103120"/>
            <a:ext cx="548640" cy="54864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560320" y="2103120"/>
            <a:ext cx="548640" cy="54864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2103120"/>
            <a:ext cx="548640" cy="548640"/>
          </a:xfrm>
          <a:prstGeom prst="line">
            <a:avLst/>
          </a:prstGeom>
          <a:noFill/>
          <a:ln w="19050">
            <a:solidFill>
              <a:srgbClr val="3E5A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143000"/>
            <a:ext cx="457200" cy="457200"/>
          </a:xfrm>
          <a:prstGeom prst="ellipse">
            <a:avLst/>
          </a:prstGeom>
          <a:solidFill>
            <a:srgbClr val="0EC9BD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938528"/>
            <a:ext cx="329184" cy="329184"/>
          </a:xfrm>
          <a:prstGeom prst="ellipse">
            <a:avLst/>
          </a:prstGeom>
          <a:solidFill>
            <a:srgbClr val="3E5A85"/>
          </a:solidFill>
          <a:ln/>
        </p:spPr>
      </p:sp>
      <p:sp>
        <p:nvSpPr>
          <p:cNvPr id="10" name="Shape 8"/>
          <p:cNvSpPr/>
          <p:nvPr/>
        </p:nvSpPr>
        <p:spPr>
          <a:xfrm>
            <a:off x="2944368" y="1938528"/>
            <a:ext cx="329184" cy="329184"/>
          </a:xfrm>
          <a:prstGeom prst="ellipse">
            <a:avLst/>
          </a:prstGeom>
          <a:solidFill>
            <a:srgbClr val="3E5A85"/>
          </a:solidFill>
          <a:ln/>
        </p:spPr>
      </p:sp>
      <p:sp>
        <p:nvSpPr>
          <p:cNvPr id="11" name="Shape 9"/>
          <p:cNvSpPr/>
          <p:nvPr/>
        </p:nvSpPr>
        <p:spPr>
          <a:xfrm>
            <a:off x="530352" y="2542032"/>
            <a:ext cx="219456" cy="219456"/>
          </a:xfrm>
          <a:prstGeom prst="ellipse">
            <a:avLst/>
          </a:prstGeom>
          <a:solidFill>
            <a:srgbClr val="0A9C93"/>
          </a:solidFill>
          <a:ln/>
        </p:spPr>
      </p:sp>
      <p:sp>
        <p:nvSpPr>
          <p:cNvPr id="12" name="Shape 10"/>
          <p:cNvSpPr/>
          <p:nvPr/>
        </p:nvSpPr>
        <p:spPr>
          <a:xfrm>
            <a:off x="1719072" y="2542032"/>
            <a:ext cx="219456" cy="219456"/>
          </a:xfrm>
          <a:prstGeom prst="ellipse">
            <a:avLst/>
          </a:prstGeom>
          <a:solidFill>
            <a:srgbClr val="0A9C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2542032"/>
            <a:ext cx="219456" cy="219456"/>
          </a:xfrm>
          <a:prstGeom prst="ellipse">
            <a:avLst/>
          </a:prstGeom>
          <a:solidFill>
            <a:srgbClr val="0A9C93"/>
          </a:solidFill>
          <a:ln/>
        </p:spPr>
      </p:sp>
      <p:sp>
        <p:nvSpPr>
          <p:cNvPr id="14" name="Shape 12"/>
          <p:cNvSpPr/>
          <p:nvPr/>
        </p:nvSpPr>
        <p:spPr>
          <a:xfrm>
            <a:off x="3547872" y="2542032"/>
            <a:ext cx="219456" cy="219456"/>
          </a:xfrm>
          <a:prstGeom prst="ellipse">
            <a:avLst/>
          </a:prstGeom>
          <a:solidFill>
            <a:srgbClr val="0A9C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200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E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4709160"/>
            <a:ext cx="4114800" cy="914"/>
          </a:xfrm>
          <a:prstGeom prst="line">
            <a:avLst/>
          </a:prstGeom>
          <a:noFill/>
          <a:ln w="12700">
            <a:solidFill>
              <a:srgbClr val="3E5A8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FULL CODE (BLANK LINES REMOVED TO FIT)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compressFile() — part 1 of 3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80467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6926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3385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2588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compressFile()  1/3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91440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void compressFile()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FILE *input;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FILE *output;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char inputName[500];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char folderPath[500];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char outputName[600];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long frequency[SIZE] = {0};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struct Node *root;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char codes[SIZE][SIZE] = {{0}};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char code[SIZE];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ch;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i;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long originalSize;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long compressedSize;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printf("\nEnter file to compress: 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scanf(" %499[^\n]", inputName);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removeQuotes(inputName);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input = fopen(inputName, "rb");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if(input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printf("\nERROR: File could not be opened.\n");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while((ch = fgetc(input)) != EOF)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621792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54710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71169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compressFile()  1/3 (cont.)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649224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frequency[(unsigned char)ch]++;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fseek(input, 0, SEEK_END);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originalSize = ftell(input);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rewind(input);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if(originalSize == 0)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printf("\nFile is empty.\n");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fclose(input);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root = buildTree(frequency);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if(root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printf("\nCould not build Huffman tree.\n");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fclose(input);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generateCodes(root,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code,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0,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codes);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printf("\nEnter folder where you want to save the compressed file: 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scanf(" %499[^\n]", folderPath);</a:t>
            </a:r>
            <a:endParaRPr lang="en-US" sz="9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FULL CODE (BLANK LINES REMOVED TO FIT)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compressFile() — part 2 of 3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80467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6926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3385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2588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compressFile()  2/3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91440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removeQuotes(folderPath);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char *fileName;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fileName = strrchr(inputName, '\\');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if(fileName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fileName = strrchr(inputName, '/');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if(fileName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fileName = inputName;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else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fileName++;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strcpy(outputName, folderPath);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length;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length = strlen(outputName);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if(outputName[length - 1] != '\\' &amp;&amp;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outputName[length - 1] != '/')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strcat(outputName, "\\");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strcat(outputName, fileName);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strcat(outputName, ".huf");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621792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54710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71169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compressFile()  2/3 (cont.)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649224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output = fopen(outputName, "wb");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if(output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printf("\nERROR: Could not create output file.\n");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printf("Please check the folder path.\n");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fclose(input);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freeTree(root);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fwrite(&amp;originalSize,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sizeof(unsigned long),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1,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output);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fwrite(frequency,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sizeof(unsigned long),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SIZE,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output);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char buffer =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bitCount =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while((ch = fgetc(input)) != EOF)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char *currentCode;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currentCode = codes[(unsigned char)ch];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for(i =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currentCode[i] != '\0';</a:t>
            </a:r>
            <a:endParaRPr lang="en-US" sz="9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FULL CODE (BLANK LINES REMOVED TO FIT)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compressFile() — part 3 of 3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80467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6926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3385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2588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compressFile()  3/3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91440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i++)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buffer = buffer &lt;&lt; 1;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if(currentCode[i] == '1')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buffer = buffer | 1;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bitCount++;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if(bitCount == 8)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fwrite(&amp;buffer,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   sizeof(unsigned char),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   1,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   output);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buffer =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bitCount =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if(bitCount &gt; 0)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buffer = buffer &lt;&lt; (8 - bitCount);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fwrite(&amp;buffer,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sizeof(unsigned char),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1,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621792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54710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71169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compressFile()  3/3 (cont.)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649224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output);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fclose(input);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fclose(output);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compressedSize = getFileSize(outputName);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printf("\n=====================================");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       COMPRESSION COMPLETE");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printf("\n=====================================");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printf("\nOriginal Size   : %lu bytes",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originalSize);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printf("\nCompressed Size : %lu bytes",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compressedSize);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if(originalSize &gt; 0)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double saved;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saved = ((double)(originalSize -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      compressedSize)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      / originalSize) * 100;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printf("\nSpace Saved     : %.2f%%",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saved);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printf("\n\nCompressed file saved at:");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printf("\n%s\n", outputName);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freeTree(root);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FULL CODE (BLANK LINES REMOVED TO FIT)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decompressFile() — part 1 of 2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80467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6926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3385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2588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decompressFile()  1/2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91440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void decompressFile()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FILE *input;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FILE *output;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char inputName[500];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char outputName[500];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long frequency[SIZE];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long originalSize;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struct Node *root;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struct Node *current;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long decoded =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ch;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i;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printf("\nEnter .huf file to decompress: 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scanf(" %499[^\n]", inputName);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removeQuotes(inputName);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input = fopen(inputName, "rb");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if(input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printf("\nERROR: File could not be opened.\n");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621792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54710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71169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decompressFile()  1/2 (cont.)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649224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fread(&amp;originalSize,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sizeof(unsigned long),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1,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fread(frequency,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sizeof(unsigned long),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SIZE,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root = buildTree(frequency);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if(root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printf("\nERROR: Invalid compressed file.\n");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fclose(input);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printf("\nEnter output file name: 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scanf(" %499[^\n]", outputName);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removeQuotes(outputName);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output = fopen(outputName, "wb");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if(output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FULL CODE (BLANK LINES REMOVED TO FIT)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decompressFile() — part 2 of 2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80467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6926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3385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2588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decompressFile()  2/2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91440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printf("\nERROR: Could not create output file.\n");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fclose(input);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freeTree(root);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current = root;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while((ch = fgetc(input)) != EOF &amp;&amp;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decoded &lt; originalSize)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unsigned char byte;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byte = (unsigned char)ch;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for(i = 7; i &gt;= 0; i--)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int bit;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bit = (byte &gt;&gt; i) &amp; 1;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if(bit == 0)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current = current-&gt;left;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else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current = current-&gt;right;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621792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54710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71169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decompressFile()  2/2 (cont.)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649224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if(isLeaf(current))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fputc(current-&gt;data,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  output);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decoded++;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current = root;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if(decoded == originalSize)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break;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fclose(input);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fclose(output);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      DECOMPRESSION COMPLETE\n");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printf("\nRestored File : %s",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outputName);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printf("\nRestored Size : %lu bytes\n",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decoded);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freeTree(root);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A9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FULL CODE (BLANK LINES REMOVED TO FIT)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&amp; main()</a:t>
            </a:r>
            <a:endParaRPr lang="en-US" sz="3200" dirty="0"/>
          </a:p>
        </p:txBody>
      </p:sp>
      <p:sp>
        <p:nvSpPr>
          <p:cNvPr id="5" name="Shape 5"/>
          <p:cNvSpPr/>
          <p:nvPr/>
        </p:nvSpPr>
        <p:spPr>
          <a:xfrm>
            <a:off x="64008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80467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6926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113385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132588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removeQuotes, getFileSize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91440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void removeQuotes(char path[])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length;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length = strlen(path);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if(length &gt;= 2)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if(path[0] == '"' &amp;&amp;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path[length - 1] == '"')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path[length - 1] = '\0';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memmove(path,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path + 1,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    length - 1);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unsigned long getFileSize(char filename[])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FILE *file;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unsigned long size;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file = fopen(filename, "rb");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if(file == NULL)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return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fseek(file, 0, SEEK_END);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size = ftell(file);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fclose(file);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return size;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00" dirty="0"/>
          </a:p>
        </p:txBody>
      </p:sp>
      <p:sp>
        <p:nvSpPr>
          <p:cNvPr id="11" name="Shape 11"/>
          <p:cNvSpPr/>
          <p:nvPr/>
        </p:nvSpPr>
        <p:spPr>
          <a:xfrm>
            <a:off x="6217920" y="16002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21D33"/>
          </a:solidFill>
          <a:ln>
            <a:noFill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6382512" y="1746504"/>
            <a:ext cx="109728" cy="109728"/>
          </a:xfrm>
          <a:prstGeom prst="ellipse">
            <a:avLst/>
          </a:prstGeom>
          <a:solidFill>
            <a:srgbClr val="E5534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547104" y="174650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711696" y="1746504"/>
            <a:ext cx="109728" cy="109728"/>
          </a:xfrm>
          <a:prstGeom prst="ellipse">
            <a:avLst/>
          </a:prstGeom>
          <a:solidFill>
            <a:srgbClr val="3FBF6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903720" y="167335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i="0" dirty="0">
                <a:solidFill>
                  <a:srgbClr val="8FA3C0"/>
                </a:solidFill>
                <a:latin typeface="Courier New"/>
                <a:ea typeface="Courier New"/>
                <a:cs typeface="Courier New"/>
              </a:rPr>
              <a:t>main()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6492240" y="2020824"/>
            <a:ext cx="4800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int main()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int choice;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do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        FILE COMPRESSOR\n");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printf("\n1. Compress File");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printf("\n2. Decompress File");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printf("\n3. Exit");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printf("\n\nEnter your choice: 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scanf("%d", &amp;choice);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switch(choice)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{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case 1: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compressFile();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break;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case 2: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decompressFile();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break;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case 3: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printf("\nThank you!\n");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break;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default: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        printf("\nInvalid choice!\n");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    }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} while(choice != 3);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    return 0;</a:t>
            </a:r>
            <a:endParaRPr lang="en-US" sz="9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900" b="0" i="0" dirty="0">
                <a:solidFill>
                  <a:srgbClr val="E7EEF7"/>
                </a:solidFill>
                <a:latin typeface="Courier New"/>
                <a:ea typeface="Courier New"/>
                <a:cs typeface="Courier New"/>
              </a:rPr>
              <a:t>}</a:t>
            </a:r>
            <a:endParaRPr lang="en-US" sz="900" dirty="0"/>
          </a:p>
        </p:txBody>
      </p:sp>
      <p:sp>
        <p:nvSpPr>
          <p:cNvPr id="900" name="Text 12"/>
          <p:cNvSpPr txBox="1"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File Compression  ·  DSA Lab Mini Project</a:t>
            </a:r>
            <a:endParaRPr lang="en-US" sz="900" dirty="0"/>
          </a:p>
        </p:txBody>
      </p:sp>
      <p:sp>
        <p:nvSpPr>
          <p:cNvPr id="901" name="Text 13"/>
          <p:cNvSpPr txBox="1"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4432</Words>
  <Application>Microsoft Office PowerPoint</Application>
  <PresentationFormat>Widescreen</PresentationFormat>
  <Paragraphs>801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Abhinav Gupta</cp:lastModifiedBy>
  <cp:revision>4</cp:revision>
  <dcterms:created xsi:type="dcterms:W3CDTF">2026-09-27T15:45:16Z</dcterms:created>
  <dcterms:modified xsi:type="dcterms:W3CDTF">2026-09-28T12:42:04Z</dcterms:modified>
</cp:coreProperties>
</file>